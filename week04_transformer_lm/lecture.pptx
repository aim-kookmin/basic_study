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[오프닝] 00–02분 · 이번 주에 만들 결과물 확인</a:t>
            </a:r>
          </a:p>
          <a:p/>
          <a:p>
            <a:r>
              <a:t>3주차 attention과 문자 코퍼스를 독립적으로 다시 정의해 이전 실행 상태 없이 시작할 수 있다. 기본 실습은 짧은 문맥과 작은 모델을 사용한다. 대형 모델 학습이나 챗봇 품질을 목표로 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[운영] 02–05분 · 실습 노트북 열기</a:t>
            </a:r>
          </a:p>
          <a:p/>
          <a:p>
            <a:r>
              <a:t>시작 전에 실습의 환경 셀과 데이터 다운로드를 실행해 둔다. 핵심 구간의 종료 시간을 지키고 심화 질문은 부록으로 연결한다. 실습은 실행만 하는 시간이 아니라 예측, 관찰, 설명까지 포함한다.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헤드마다 문법적 역할이 자동으로 하나씩 배정되는 것은 아니다. 서로 다른 혼합을 학습할 수 있는 구조적 여지를 준다고 설명한다.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FFN은 위치별 같은 가중치를 사용하며 직접 다른 위치를 참조하지 않는다. CNN의 1×1 Conv와 채널 변환 관점에서 연결할 수 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LayerNorm에도 학습 가능한 scale과 bias가 있다. 정규화 차원을 지정하는 normalized_shape가 중요하다. B,T까지 함께 정규화하지 않도록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원래 Transformer 논문의 post-norm과 수업의 pre-norm이 다르다는 점을 명시한다. 교육용 구현을 원문 완전 복제라고 소개하지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오늘 생성 코드는 전체 문맥을 반복 계산해 단순하지만 비효율적이다. KV cache는 부록에서 개념만 다룬다.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구조를 배운 것과 대규모 데이터에서 능력이 생기는 것을 구분한다. 작은 모델의 철자 생성 결과를 과장하지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랜덤 배치 몇 개만 뽑으면 평가가 흔들린다. 노트북은 평가 시 고정된 연속 window를 사용하고 같은 표본에 대해 비교한다.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d_model이 heads로 나누어 떨어져야 한다. head 수를 늘린다고 d_model 고정에서 projection 파라미터가 단순히 head 수 배로 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transpose 후 메모리 배치가 비연속일 수 있어 view 전에 contiguous가 필요하다. reshape는 필요한 경우 복사할 수 있다. 버그가 나면 shape뿐 아니라 축 의미를 읽는다.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D×4D와 4D×D를 더해 8D²다. Q,K,V,O 투영은 약 4D²이므로 작은 블록에서도 FFN을 무시할 수 없다.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노트북의 nn.LayerNorm(D)는 마지막 D축에 적용한다. 정규화로 모든 값이 같은 것이 아니라 평균과 스케일을 조정하는 것이다.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ties 처리 때문에 임계값 방식은 k개보다 많이 남길 수 있다. 실습은 topk 인덱스를 scatter해 정확히 k개를 남긴다. k는 1부터 vocabulary 크기까지 제한한다.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배치별 perplexity의 평균과 전체 CE의 exp는 다르다. loss를 먼저 표본 수로 집계한 뒤 exp한다. 같은 vocabulary의 uniform baseline도 참고할 수 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한 클래스에 모든 연산을 넣기보다 기능별로 나누면 shape와 causal 테스트가 쉽다. notebook은 외부 모듈 import 없이 모든 정의를 포함한다.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no_grad만 사용하면 dropout은 계속 작동한다. 직접 구현은 nn.Dropout을 사용하며 SDPA의 dropout_p 설정과 규칙이 다르다.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clip을 backward 전에 호출하면 현재 gradient가 없다. clipping은 데이터 누출이나 잘못된 loss를 고쳐 주지 않는다. max_norm=1.0은 수업 기본값이지 보편적 최적값이 아니다.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모델이 보는 window는 겹칠 수 있어 처리 토큰 수가 고유 데이터 양과 같지 않다. GPU를 바꾸면 같은 시간 예산의 업데이트 수가 달라진다.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state_dict만으로 다른 모델 구조를 자동 복원할 수 없다. 외부 출처 checkpoint를 무심코 실행하지 말고 본인이 만든 파일을 읽는다. 실습은 로컬 생성 파일만 사용한다.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mask는 모든 head와 batch에 브로드캐스트된다. 미래 변경은 중간 위치 이후만 바꾸고 그 이전 출력들을 비교한다. padding 없는 고정 window를 사용한다.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시간이 부족하면 steps를 줄이되 평가 셀을 생략하지 않는다. 기본 학습으로 유창한 문장이 나오지 않을 수 있다. 검증 보고서의 실제 출력과 함께 설명한다.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각 조건을 여러 번 봐야 안정적으로 평가할 수 있다. 과도하게 높은 온도는 다양성뿐 아니라 오류도 늘릴 수 있다. 저장 파일은 실행 위치의 outputs 폴더에 생성된다.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샘플링 변화는 가중치를 다시 학습하는 것이 아니다. 생성 알고리즘과 모델 학습을 구분해서 보고한다.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더 많은 헤드가 더 많은 독립 지식을 저장한다는 설명은 피한다. 다른 분할 방식이 최적화와 표현에 영향을 주는 것을 실험한다.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데이터의 문법 자체가 단순하므로 평가 난도가 낮다. 모델 능력을 논하려면 더 다양한 실제 held-out 데이터와 적합한 지표가 필요하다.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[회고] 85–90분</a:t>
            </a:r>
          </a:p>
          <a:p/>
          <a:p>
            <a:r>
              <a:t>정답: 16, 직접 섞지 않음, model.eval(). no_grad는 메모리 절약과 gradient 비활성화를 위해 함께 사용한다.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[회고] 85–90분</a:t>
            </a:r>
          </a:p>
          <a:p/>
          <a:p>
            <a:r>
              <a:t>autoregressive 모델과 VAE는 생성 분해 방식이 다르다. VAE가 언어 모델을 대체하는 후속 단계라기보다 다른 생성 모델 계열이라고 설명한다.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수업 구현은 learned positional embedding을 쓴다. 원 논문의 위치 표현과 차이를 비교한다. 모양을 그려 주파수가 다른 축들을 관찰한다.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오늘 sliding window와 learned position을 그대로 캐시화하면 위치 재설정 문제가 생긴다. 단순히 과거 K,V를 붙이는 것만으로 정확한 구현이 되지 않을 수 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수업 핵심은 독립 가중치를 사용한다. tying을 추가할 때 optimizer가 중복 업데이트하지 않는지 파라미터 집계를 확인한다.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threshold를 넘기는 첫 토큰을 포함할지의 구현을 주의한다. 자율 과제의 도전 구현으로 제안하며 핵심 실습은 top-k까지만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공식 문서를 확인한 뒤 사용한다. bool mask는 True=허용이다. 수치 허용 오차는 dtype과 device에 맞춰 설정한다.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정확히 같은 모든 조건을 동시에 고정할 수 없는 경우가 있다. 무엇을 고정하고 무엇이 바뀌었는지 표에 명시하는 것이 중요하다.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좋은 실험에는 실패 사례와 개선되지 않은 조건도 포함된다. 리더 해설의 참고 구현으로 단위 검사를 확인하고 결과 해석은 직접 작성한다.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0-based index에서 세 번째 행을 가리킨다. 대각선을 차단하지 않는다. 첫 행도 자기 자신을 볼 수 있어 all-masked softmax NaN을 피한다.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4개 head로 나누어도 최종 D는 64다. 실제 Q,K,V는 각각 [B,4,T,16]으로 계산한다. 이 도식은 head별 결과 결합을 보여 준다.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입력 길이 T에 대해 원본 토큰 T+1개가 필요하다. 다음 토큰 정답은 입력의 바로 다음 열이므로 causal mask가 없으면 정답을 볼 수 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실제 학습 모델의 결과가 아닌 설명용 logits의 정확한 softmax 계산이다. 온도를 높이면 분포가 완만해진다. τ=0은 허용하지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</a:t>
            </a:r>
          </a:p>
          <a:p/>
          <a:p>
            <a:r>
              <a:t>Attention Is All You Need · Vaswani et al.</a:t>
            </a:r>
          </a:p>
          <a:p>
            <a:r>
              <a:t>https://arxiv.org/abs/1706.03762</a:t>
            </a:r>
          </a:p>
          <a:p>
            <a:r>
              <a:t>Scaled Dot Product Attention · 공식 API</a:t>
            </a:r>
          </a:p>
          <a:p>
            <a:r>
              <a:t>https://docs.pytorch.org/docs/stable/generated/torch.nn.functional.scaled_dot_product_attention.html</a:t>
            </a:r>
          </a:p>
          <a:p>
            <a:r>
              <a:t>CrossEntropyLoss · 공식 API</a:t>
            </a:r>
          </a:p>
          <a:p>
            <a:r>
              <a:t>https://docs.pytorch.org/docs/stable/generated/torch.nn.CrossEntropyLoss.html</a:t>
            </a:r>
          </a:p>
          <a:p/>
          <a:p>
            <a:r>
              <a:t>슬라이드 문장·도식과 실습 코드는 이 수업을 위해 새로 작성했다. 원문 그림을 복제하지 않았다.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오프닝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Attention ② 작은 Transformer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6675120" cy="35204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multi-head attention과 pre-norm block을 구현한다.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소형 decoder 언어 모델을 학습하고 sampling을 비교한다.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데이터 누출·인과성·평가 조건을 검사한다.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74519"/>
            <a:ext cx="3520440" cy="2423160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BLOCKS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→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00–02분 · 이번 주에 만들 결과물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운영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90분 수업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00–05 도입 · 05–20 개념 · 20–35 수식과 손계산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35–50 구현 설계 · 50–75 실습 · 75–85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85–90 회고 · 부록과 자율 과제는 수업 이후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90 MIN  /  개념 45 + 실습 25 + 분석·회고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02–05분 · 실습 노트북 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단일 헤드에서 multi-head로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6422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head 1 / head 2 / head 3 / head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8484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concat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0546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W_O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같은 입력을 여러 부분 공간으로 투영한다.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각 헤드가 별도의 attention 분포를 계산한다.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헤드 출력을 합치고 출력 투영을 적용한다.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블록의 두 하위 연산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024481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LayerNorm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20009" y="1847088"/>
            <a:ext cx="2024481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5659" y="1847088"/>
            <a:ext cx="2024481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+residual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71308" y="1847088"/>
            <a:ext cx="2024481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LayerNorm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6958" y="1847088"/>
            <a:ext cx="2024481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FFN + residual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attention은 토큰 사이 정보를 섞는다.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FFN은 각 위치의 채널 표현을 비선형으로 바꾼다.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각 하위 연산에 residual 경로를 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LayerNorm과 BatchNorm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LayerNorm은 보통 각 토큰의 마지막 특징 축을 정규화한다.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배치의 다른 문장 통계를 모으지 않는다.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train/eval에서 BatchNorm처럼 running 통계를 전환하지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LayerNorm(D): 각 [D] 벡터를 정규화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pre-norm으로 쌓기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하위 연산 전에 LayerNorm을 적용한다.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residual 경로는 정규화 바깥으로 통과한다.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최종 블록 뒤에도 LayerNorm을 적용한다.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x ← x + Attn(LN(x)); x ← x + FFN(LN(x))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학습과 생성의 계산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학습은 정답 문맥으로 모든 위치를 병렬 계산한다.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생성은 새 토큰 하나를 뽑은 뒤 다시 실행한다.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이전 예측의 실수가 다음 문맥에 들어간다.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teacher forcing / autoregressive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decoder-only 모델의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token·position embedding과 여러 block을 연결한다.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마지막 Linear가 다음 문자 logits를 만든다.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지시 따르기나 대화 정렬 학습은 포함하지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작은 next-token 모델 ≠ 완성된 대화 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좋은 평가 단위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같은 held-out 토큰에 CE와 perplexity를 계산한다.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최고 validation checkpoint를 선택한다.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test는 선택 완료 후 한 번 사용한다.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토큰 수로 가중 평균한 CE → exp(CE)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헤드 shape 변환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d_model=64, heads=4이면 d_head=16이다.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[B,T,64]를 [B,T,4,16]으로 나눈다.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transpose 후 [B,4,T,16]으로 attention한다.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[B,H,T,d] @ [B,H,d,T] → [B,H,T,T]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헤드 결합하기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결과 [B,H,T,d]를 [B,T,H,d]로 돌린다.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898648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reshape로 [B,T,D]를 만든다.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22776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W_O로 헤드 정보를 섞는다.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74519"/>
            <a:ext cx="5596128" cy="3639312"/>
          </a:xfrm>
          <a:prstGeom prst="roundRect">
            <a:avLst/>
          </a:prstGeom>
          <a:solidFill>
            <a:srgbClr val="13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y = y.transpose(1, 2)</a:t>
            </a:r>
          </a:p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y = y.contiguous().view(B,T,D)</a:t>
            </a:r>
          </a:p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y = self.out(y)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FFN의 폭과 파라미터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D→4D→D의 두 선형층을 사용한다.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중간에 GELU와 dropout을 넣을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attention 외에 FFN도 큰 파라미터 비중을 가진다.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FFN weight count ≈ 8D² (bias 제외)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LayerNorm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한 토큰의 D개 값에서 평균과 분산을 구한다.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표준화 후 학습 가능한 affine 변환을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배치 크기 B에 직접 의존하지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LN(h) = γ ⊙ (h−mean(h))/sqrt(var(h)+ε) + 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top-k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vocabulary 중 점수가 높은 k개만 남긴다.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나머지는 −∞로 바꾼 뒤 softmax한다.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k=1이면 최대 점수 토큰만 선택한다.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logits &lt; kth_value → −∞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perplexity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CE가 ln(10)이면 perplexity는 10이다.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확률적으로 유효한 선택지 수라는 직관으로 읽을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정확한 후보 개수를 세는 지표는 아니다.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PPL = exp(평균 token NLL)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모듈을 네 부분으로 나누기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Embedding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6422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Block ×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8484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LayerNorm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0546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LM 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CausalMHA는 헤드 분할·mask·결합을 맡는다.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Block은 LN·residual·FFN을 묶는다.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TinyTransformer는 embedding과 block stack·head를 연결한다.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dropout이 평가를 흔들지 않게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학습에서는 model.train()으로 dropout을 활성화한다.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평가·생성·causal 검사에서는 model.eval()을 사용한다.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평가를 마친 후 학습 모드를 복원한다.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반복 forward가 같은지 eval에서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학습 안정성 점검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loss가 유한한지 확인하고 gradient norm을 기록한다.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필요하면 clip_grad_norm_으로 큰 gradient를 제한한다.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optimizer는 모든 학습 파라미터를 받아야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zero_grad → backward → clip →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실험 예산을 명시하기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steps·batch·context 길이로 처리 토큰 수를 계산한다.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비교할 때 parameter 수와 학습 시간을 함께 기록한다.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하나의 seed 결과는 탐색 결과로 표현한다.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processed tokens = steps × B ×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checkpoint에 넣을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model state와 구조 설정을 저장한다.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vocabulary와 토큰화 규칙도 함께 저장한다.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생성을 재현하려면 prompt·sampling 설정·seed를 남긴다.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weights + config + vocabulary + run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1 · multi-head 구현 검사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§1–3: head shape와 causal mask를 확인한다.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미래 토큰 변경에 과거 logits가 불변인지 검사한다.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모델 파라미터 수를 출력한다.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50–59분 / 산출물: shape·causality assert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2 · 학습과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§4: TinyTransformer를 짧게 학습한다.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train/validation CE 곡선을 저장한다.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최고 val state를 복원하고 test CE를 구한다.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59–69분 / 산출물: CE 곡선 + 최종 PPL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3 · 생성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§5–6: greedy, temperature, top-k를 비교한다.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동일 prompt와 seed를 사용하고 반복성을 관찰한다.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checkpoint를 저장·복원해 logits가 같은지 확인한다.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69–75분 / 산출물: 4개 생성 결과 + 복원 검사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어떤 샘플링이 좋은가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greedy는 반복되고 단조로울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온도를 높이면 낮은 확률 문자도 더 자주 나온다.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top-k는 후보를 제한하지만 사실성을 보장하지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유창성 / 반복 / 다양성 /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헤드 수 실험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D를 고정하면 head당 차원이 달라진다.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head 수가 많아도 성능이 항상 좋아지지 않는다.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같은 예산과 여러 seed로 비교한다.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H↑ ⇒ d_head=D/H↓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학습 데이터와 생성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훈련 문장의 반복을 생성 능력으로 과장하지 않는다.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새 조합에서도 규칙을 유지하는지 관찰한다.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합성 코퍼스 성능을 일반 자연어로 외삽하지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암기 / 조합 일반화 / 실제 언어 능력 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출구 퀴즈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Q1. D=96, H=6이면 head 차원은?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Q2. FFN은 서로 다른 위치를 직접 섞을까?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Q3. 생성 시 dropout을 끄는 호출은?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shape / 연산 역할 / 실행 모드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85–90분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다음: 확률 분포에서 이미지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언어 모델은 다음 토큰의 분포를 학습했다.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VAE는 잠재변수와 이미지의 확률적 관계를 학습한다.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우도·샘플링·표현이라는 공통 주제로 이어진다.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다음: z를 뽑아 새로운 이미지를 만든다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85–90분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sinusoidal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위치마다 사인·코사인 주파수를 조합한다.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학습형 위치 embedding과 다른 설계 선택이다.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더 긴 길이의 성능이 자동 보장되는 것은 아니다.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PE(pos,2i)=sin(pos / 10000^(2i/D))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KV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생성 중 과거 key와 value를 저장해 재사용한다.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새 토큰의 query 중심으로 추가 계산한다.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cache 길이와 위치 인덱스 관리가 필요하다.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반복 계산 감소 ↔ cache 메모리 증가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weight tying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token embedding과 출력 projection 가중치를 공유할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vocabulary 관련 파라미터 수를 줄인다.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shape와 초기화 전략을 확인한다.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lm_head.weight = token_embedding.weight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top-p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정렬된 확률의 누적합이 p에 닿는 후보 집합을 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확신 수준에 따라 후보 수가 달라진다.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최소 한 개의 후보를 유지해야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고정 k / 가변 nucleus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SDPA 사용 시 주의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fused attention API가 속도·메모리를 개선할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dropout_p는 eval에서 자동 0이 된다고 가정하지 않는다.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직접 구현과 dropout=0에서 수치 비교한다.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dropout_p = p if training else 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긴 문맥과 학습 예산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T 증가로 한 step의 토큰 수와 attention 비용이 늘어난다.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같은 steps 비교는 처리 토큰 예산이 달라진다.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동일 토큰 예산과 동일 시간 예산을 구분한다.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공정성의 기준을 먼저 정한다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작은 프로젝트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head 수 또는 FFN 폭을 한 가지 바꾼다.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학습 곡선과 생성 오류 유형을 함께 비교한다.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세 번 반복하고 평균·변동을 보고한다.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자율 과제: top-k + block + head ablation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미래를 가리는 삼각형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0200" y="1874519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874519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874519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74519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603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25603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560320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560320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560320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461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32461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2461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3246120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246120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319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39319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9319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39319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3931920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6177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00200" y="46177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46177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46177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46177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2057400"/>
            <a:ext cx="6126480" cy="13716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행 = query / 열 = key</a:t>
            </a:r>
          </a:p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1 = 허용 / 0 = 차단 (논리 mask)</a:t>
            </a:r>
          </a:p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softmax 후 각 행의 확률 합 =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794760"/>
            <a:ext cx="6126480" cy="13716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위치 2는 0·1·2만 참조한다.</a:t>
            </a:r>
          </a:p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입력의 현재 토큰은 허용하고</a:t>
            </a:r>
          </a:p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그 다음 토큰을 정답으로 예측한다.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head 분할과 결합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2194560" cy="1280160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300" b="0">
                <a:solidFill>
                  <a:srgbClr val="FFFFFF"/>
                </a:solidFill>
                <a:latin typeface="맑은 고딕"/>
              </a:defRPr>
            </a:pPr>
            <a:r>
              <a:t>입력</a:t>
            </a:r>
          </a:p>
          <a:p>
            <a:pPr>
              <a:spcAft>
                <a:spcPts val="1000"/>
              </a:spcAft>
              <a:defRPr sz="2300" b="0">
                <a:solidFill>
                  <a:srgbClr val="FFFFFF"/>
                </a:solidFill>
                <a:latin typeface="맑은 고딕"/>
              </a:defRPr>
            </a:pPr>
            <a:r>
              <a:t>[B,T,64]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691640"/>
            <a:ext cx="4023360" cy="65836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head 1  ·  [B,T,16]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971800" y="2011680"/>
            <a:ext cx="795528" cy="731520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09560" y="2011680"/>
            <a:ext cx="777240" cy="731520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0" y="2532888"/>
            <a:ext cx="4023360" cy="65836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head 2  ·  [B,T,16]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2743200"/>
            <a:ext cx="795528" cy="109728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909560" y="2743200"/>
            <a:ext cx="777240" cy="109728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40480" y="3374136"/>
            <a:ext cx="4023360" cy="65836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head 3  ·  [B,T,16]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2743200"/>
            <a:ext cx="795528" cy="950976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909560" y="2743200"/>
            <a:ext cx="777240" cy="950976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40480" y="4215384"/>
            <a:ext cx="4023360" cy="65836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head 4  ·  [B,T,16]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1800" y="2743200"/>
            <a:ext cx="795528" cy="1792224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909560" y="2743200"/>
            <a:ext cx="777240" cy="1792224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778240" y="2103120"/>
            <a:ext cx="2468880" cy="1371600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concat + W_O</a:t>
            </a:r>
          </a:p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[B,T,64]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1060704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head 축을 복원할 때 transpose → contiguous → view 순서를 확인한다.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next-token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64592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원본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192024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92024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92024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92024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92024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92024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92024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64592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입력 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31089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31089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31089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79" y="31089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1089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1089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164592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정답 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429768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429768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39" y="429768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79" y="429768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429768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429768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880360"/>
            <a:ext cx="3337560" cy="173736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같은 열에서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x_t → y_t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정답은 원본의 다음 위치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temperature와 확률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32918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τ=0.5  / logits=[2,1,0]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50834"/>
            <a:ext cx="713232" cy="2021165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4980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0.87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4298464"/>
            <a:ext cx="713232" cy="273535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70992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534981"/>
            <a:ext cx="713232" cy="3701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67004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32918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τ=1.0  / logits=[2,1,0]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020844"/>
            <a:ext cx="713232" cy="1551155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4456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0.67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4001361"/>
            <a:ext cx="713232" cy="57063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50468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4362073"/>
            <a:ext cx="713232" cy="209926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6480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83080"/>
            <a:ext cx="32918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τ=2.0  / logits=[2,1,0]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391029"/>
            <a:ext cx="713232" cy="1180970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33932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0.51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3855705"/>
            <a:ext cx="713232" cy="71629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29944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0.31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4137545"/>
            <a:ext cx="713232" cy="43445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25956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86400"/>
            <a:ext cx="106070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3243A"/>
                </a:solidFill>
                <a:latin typeface="맑은 고딕"/>
              </a:defRPr>
            </a:pPr>
            <a:r>
              <a:t>설명용 확률 계산. 온도는 모델 가중치를 바꾸지 않고 선택 분포를 바꾼다.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04  /  참고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읽을거리와 출처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Attention Is All You Need · Vaswani et 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Scaled Dot Product Attention · 공식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CrossEntropyLoss · 공식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원문 링크는 발표자 노트와 주차별 README에 수록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생각하기 → 손으로 계산하기 → 코드로 검증하기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② 작은 Transformer 만들기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