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[오프닝] 00–02분 · 이번 주에 만들 결과물 확인</a:t>
            </a:r>
          </a:p>
          <a:p/>
          <a:p>
            <a:r>
              <a:t>행렬 곱, softmax, cross entropy를 복습한다. 외부 텍스트 다운로드 없이 교육용으로 직접 만든 문장 코퍼스를 사용한다. 결과는 언어 모델 원리 관찰용이며 자연어 능력 벤치마크가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[운영] 02–05분 · 실습 노트북 열기</a:t>
            </a:r>
          </a:p>
          <a:p/>
          <a:p>
            <a:r>
              <a:t>시작 전에 실습의 환경 셀과 데이터 다운로드를 실행해 둔다. 핵심 구간의 종료 시간을 지키고 심화 질문은 부록으로 연결한다. 실습은 실행만 하는 시간이 아니라 예측, 관찰, 설명까지 포함한다.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토큰은 단어와 같지 않다. 오늘은 구현이 단순한 문자 단위를 사용한다. 실제 대형 언어 모델의 subword 토큰화와는 다르다.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정수 ID의 크기는 의미적 순서가 아니다. ID 7이 ID 3보다 어떤 의미로 크다는 뜻이 아니다. embedding은 학습되는 lookup table이다.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문맥 창 밖 정보는 오늘 모델에서 접근할 수 없다. 어텐션이 모든 기억을 무한히 보관하는 구조가 아님을 짚는다.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도서관 검색 비유는 직관일 뿐 각 차원이 실제 검색어에 대응하는 것은 아니다. 세 투영은 서로 다른 학습 파라미터다. self-attention에서는 같은 X에서 세 가지를 만든다.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원래 Transformer 논문은 encoder-decoder 구조다. 이 수업의 소형 문자 모델은 decoder-only 교육용 모델이며 논문 전체를 그대로 재현하지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mask 없이 한 칸 밀린 정답을 학습하면 뒤 위치의 정답 정보가 들어와 손실이 부당하게 낮아진다. 입력에 현재 문자는 있고 목표는 그 다음 문자이므로 대각선은 허용한다.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[개념] 05–20분</a:t>
            </a:r>
          </a:p>
          <a:p/>
          <a:p>
            <a:r>
              <a:t>causal mask도 순서 구조를 제공하지만 위치 embedding은 위치를 명시적으로 표현한다. 순서를 전혀 모른다는 단정 대신 명시적 위치 표현의 목적을 설명한다.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softmax는 key 축인 마지막 차원에 적용한다. query마다 별도의 확률 분포가 나온다. 값의 차원 d_v는 일반적으로 d_k와 같을 필요가 없지만 오늘은 같게 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transpose를 배치 축에 적용하는 실수를 경계한다. B는 독립된 시퀀스 묶음이다. 다른 배치의 문장끼리 attention하지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내적, 나눗셈, 지수와 정규화, value 가중합을 순서대로 적는다. output은 key 벡터의 평균이 아니라 value 벡터의 가중합이라는 점을 다시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이는 초기 분포에 대한 직관이지 모든 학습 시점의 정확한 분산 보장이 아니다. 큰 logits에서는 softmax가 포화해 gradient가 작아질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softmax 전에 mask를 더하거나 masked_fill한다. 행 전체를 −∞로 만들면 NaN이 될 수 있다. 오늘의 대각선 허용 mask는 각 행에 최소 한 개 허용 위치가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[수식] 20–35분</a:t>
            </a:r>
          </a:p>
          <a:p/>
          <a:p>
            <a:r>
              <a:t>perplexity는 같은 tokenizer, 데이터, 평가 조건에서 비교한다. 문자 모델과 subword 모델의 perplexity를 그대로 비교하면 의미가 다르다. 자연로그 CE를 사용하므로 exp를 취한다.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이 모델은 residual과 FFN을 갖춘 완전한 Transformer block이 아니다. 4주차에서 그 요소를 추가한다. 간단한 모델로 attention 핵심을 분리해 배운다.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softmax(dim=1)처럼 query 축을 정규화해도 shape는 맞아 오류가 숨을 수 있다. shape 검사만으로 충분하지 않아 의미적 불변량을 함께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교육용 코퍼스는 동일 문법의 조합 문장이다. exact duplicate 문장은 split 간 중복되지 않지만 문법과 단어는 공유하므로 일반 자연어 일반화 증거가 아니다. UNK 비율을 확인한다.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train과 val 토큰을 이어 붙여 window를 만들면 경계를 넘어 데이터가 섞인다. 노트북 함수는 주어진 split만 사용한다. 생성 prompt도 vocabulary 범위 안으로 인코딩한다.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[설계] 35–50분</a:t>
            </a:r>
          </a:p>
          <a:p/>
          <a:p>
            <a:r>
              <a:t>temperature가 낮아지면 더 집중된다. 생성에는 eval과 no_grad를 사용하고 문맥을 마지막 block_size만 남긴다. 같은 prompt라도 seed와 설정에 따라 결과가 달라진다.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heatmap의 행은 query, 열은 key다. 숫자를 읽어 첫 행이 자기 자신에 1을 주는지 확인한다. 이 손계산 Q,K,V는 학습된 값이 아닌 설명용 값이다.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두 모델은 구조와 파라미터 수가 달라 엄밀한 attention 단독 효과 실험은 아니다. 유의미한 방향을 관찰하는 기준 비교다. 최종 선택은 val을 사용한다.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[실습] 50–75분 · practice.ipynb와 함께 진행</a:t>
            </a:r>
          </a:p>
          <a:p/>
          <a:p>
            <a:r>
              <a:t>미래 변경에 앞부분 logits가 변하면 mask나 attention 계산 축을 점검한다. eval 모드로 dropout 등을 끈 뒤 비교해야 한다. 어텐션 가중치를 문법 이해의 직접 증거로 해석하지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작은 합성 코퍼스는 생성 모델의 흐름을 보여 주기 위한 장치다. 작은 perplexity가 실제 글쓰기 능력을 의미하지 않는다. 선택한 좋은 샘플만 발표하지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양방향 attention 자체가 잘못된 것은 아니다. causal 다음 토큰 학습이라는 목적과 맞지 않는 것이 문제다. masked language modeling과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[분석] 75–85분</a:t>
            </a:r>
          </a:p>
          <a:p/>
          <a:p>
            <a:r>
              <a:t>특정 key의 value를 제거하거나 토큰을 바꾸는 실험도 가능하지만 그 역시 분포 변화를 만든다. 해석의 한계를 명시하는 습관을 배운다.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정답: 행=query, 열=key; softmax 전; 일반적으로 다르다. 후에 0으로만 지우면 행 합이 1이 아니며 재정규화 등 별도 처리가 필요하다.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[회고] 85–90분</a:t>
            </a:r>
          </a:p>
          <a:p/>
          <a:p>
            <a:r>
              <a:t>자율 과제에서는 SDPA 공식 API와 직접 구현을 비교한다. API마다 boolean mask의 의미가 다를 수 있음을 다음 부록과 연결한다.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softmax 함수의 이동 불변성을 손으로 유도한다. temperature로 나누는 스케일 변환과 최댓값을 빼는 이동은 다른 연산이다.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오늘 고정 길이 window에는 padding이 필요 없다. attention mask와 loss mask는 서로 대체되지 않는다. 모두 masked인 query 행의 NaN도 고려한다.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수업 구현은 변수명을 blocked로 두어 True=차단을 명시한다. SDPA와 비교할 때는 ~blocked를 전달한다. 규칙을 외우기보다 작은 행렬로 검증한다.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효율적 구현은 전체 행렬 저장을 줄일 수 있으나 수업의 명시적 구현은 실제 T² 행렬을 만든다. 계산 복잡도와 메모리 구현을 구분한다.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오늘 영문 합성 코퍼스를 쓰는 이유는 원리를 가볍게 실행하기 위해서다. 한국어로 바꿀 때는 자모와 완성형 문자, 띄어쓰기 정책도 고려한다.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temperature=0을 나눗셈에 넣지 않는다. greedy는 별도 argmax 분기로 구현한다. ties가 있으면 극한의 설명에도 주의한다.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[부록] 수업 외 심화</a:t>
            </a:r>
          </a:p>
          <a:p/>
          <a:p>
            <a:r>
              <a:t>짧은 코퍼스에서 bigram도 일부 철자 패턴을 학습한다. 더 복잡한 모델이 제한된 시간 안에 항상 이기는 것은 아니다.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0-based index에서 세 번째 행을 가리킨다. 대각선을 차단하지 않는다. 첫 행도 자기 자신을 볼 수 있어 all-masked softmax NaN을 피한다.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4개 head로 나누어도 최종 D는 64다. 실제 Q,K,V는 각각 [B,4,T,16]으로 계산한다. 이 도식은 head별 결과 결합을 보여 준다.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입력 길이 T에 대해 원본 토큰 T+1개가 필요하다. 다음 토큰 정답은 입력의 바로 다음 열이므로 causal mask가 없으면 정답을 볼 수 있다.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[시각 보충] 수업 외 복습 · 해당 개념 설명 시 함께 활용 가능</a:t>
            </a:r>
          </a:p>
          <a:p/>
          <a:p>
            <a:r>
              <a:t>실제 학습 모델의 결과가 아닌 설명용 logits의 정확한 softmax 계산이다. 온도를 높이면 분포가 완만해진다. τ=0은 허용하지 않는다.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[참고] </a:t>
            </a:r>
          </a:p>
          <a:p/>
          <a:p>
            <a:r>
              <a:t>Attention Is All You Need · Vaswani et al.</a:t>
            </a:r>
          </a:p>
          <a:p>
            <a:r>
              <a:t>https://arxiv.org/abs/1706.03762</a:t>
            </a:r>
          </a:p>
          <a:p>
            <a:r>
              <a:t>Scaled Dot Product Attention · 공식 API</a:t>
            </a:r>
          </a:p>
          <a:p>
            <a:r>
              <a:t>https://docs.pytorch.org/docs/stable/generated/torch.nn.functional.scaled_dot_product_attention.html</a:t>
            </a:r>
          </a:p>
          <a:p>
            <a:r>
              <a:t>CrossEntropyLoss · 공식 API</a:t>
            </a:r>
          </a:p>
          <a:p>
            <a:r>
              <a:t>https://docs.pytorch.org/docs/stable/generated/torch.nn.CrossEntropyLoss.html</a:t>
            </a:r>
          </a:p>
          <a:p/>
          <a:p>
            <a:r>
              <a:t>슬라이드 문장·도식과 실습 코드는 이 수업을 위해 새로 작성했다. 원문 그림을 복제하지 않았다.</a:t>
            </a:r>
          </a:p>
          <a:p/>
          <a:p>
            <a:r>
              <a:t>진행 팁: 설명 후 5~10초 기다리고, 한 명에게 근거를 포함한 답을 요청한다. 코드 결과의 수치는 실행 환경과 시드에 따라 달라질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오프닝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Attention ① 관계를 계산하는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6675120" cy="35204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Q·K·V와 scaled dot-product attention을 손으로 계산한다.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causal mask와 텐서 shape를 검증한다.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단일 헤드 문자 언어 모델을 학습하고 생성한다.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74519"/>
            <a:ext cx="3520440" cy="242316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TOKENS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→ RELATIONS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00–02분 · 이번 주에 만들 결과물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90분 수업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00–05 도입 · 05–20 개념 · 20–35 수식과 손계산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35–50 구현 설계 · 50–75 실습 · 75–85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85–90 회고 · 부록과 자율 과제는 수업 이후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90 MIN  /  개념 45 + 실습 25 + 분석·회고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02–05분 · 실습 노트북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언어 모델의 과제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the 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다음 토큰 분포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t 샘플링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the 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앞의 토큰을 보고 다음 토큰의 분포를 예측한다.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학습 입력과 정답은 한 칸 어긋난 시퀀스다.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생성은 예측한 토큰을 문맥 뒤에 붙이며 반복한다.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문자를 정수로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train 문자 집합으로 vocabulary를 만든다.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각 문자를 ID로 바꾸고 embedding에서 벡터를 찾는다.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모르는 문자를 위한 UNK를 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문자 → token ID → 학습 가능한 벡터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고정 문맥의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bigram은 바로 이전 문자에만 조건부로 의존한다.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문장 의미는 더 먼 위치에도 의존할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어텐션은 문맥 안의 여러 위치를 가중합한다.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p(x_t ∣ x_&lt;t) 와 p(x_t ∣ x_(t−1))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Q·K·V의 역할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Q=XW_Q / K=XW_K / V=XW_V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유사도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가중합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Query는 현재 위치가 찾는 관계의 기준이다.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Key는 각 위치가 비교에 내놓는 표현이다.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Value는 가중합으로 전달할 내용이다.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self와 cross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self-attention은 Q·K·V가 같은 시퀀스에서 나온다.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cross-attention은 Q와 K·V의 출처가 다르다.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오늘은 decoder 방식의 causal self-attention을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self: X→Q,K,V / cross: X→Q, Y→K,V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미래를 보지 않는 규칙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점수 행렬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상삼각 차단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행별 softmax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과거 정보 혼합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위치 t는 위치 t 이하만 볼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학습에서 모든 위치를 병렬로 계산해도 이 규칙을 지킨다.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미래 점수에 −∞를 넣고 softmax한다.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위치 정보가 필요한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내용만 같으면 순서 차이를 직접 표시하기 어렵다.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토큰 embedding에 위치 embedding을 더한다.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문맥 길이는 위치 embedding 범위를 넘지 않아야 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H_t = token_embedding(x_t) + position_embedding(t)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05–20분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전체 식을 세 단계로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QKᵀ로 query와 key의 내적을 계산한다.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sqrt(d_k)로 나누고 각 행을 softmax한다.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행의 가중치로 V를 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Attention(Q,K,V) = softmax(QKᵀ / sqrt(d_k) + M)V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shape 추적표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Q,K,V는 [B,T,D]다.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 @ K.transpose(−2,−1)은 [B,T,T]다.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가중치 @ V의 결과는 [B,T,D]다.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[B,T,D] × [B,D,T] → [B,T,T]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손계산 · 두 key와 한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q=[1,0], k₁=[1,0], k₂=[0,1]로 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scaled score는 [0.707,0]이다.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softmax는 약 [0.670,0.330]이다.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v₁=[2,0], v₂=[0,2] → output≈[1.34,0.66]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왜 sqrt(d_k)로 나눌까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독립·평균 0·분산 1인 성분을 가정한다.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d_k개 곱의 합은 분산이 d_k 규모가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스케일을 줄여 softmax가 너무 뾰족해지는 것을 완화한다.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Var(q·k)≈d_k → Var((q·k)/sqrt(d_k))≈1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causal mask 손으로 채우기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길이 3이면 첫 행은 첫 key만 허용한다.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둘째 행은 첫째·둘째 key를 허용한다.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마지막 행은 세 key를 모두 허용한다.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M = [[0,−∞,−∞],[0,0,−∞],[0,0,0]]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수식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언어 모델 손실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logits는 [B,T,Vocab]이고 target은 [B,T]다.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B와 T를 묶어 위치별 cross entropy를 계산한다.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평균 손실의 지수값은 이 설정의 perplexity다.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CE(logits.reshape(−1,V), target.reshape(−1))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20–35분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한 헤드부터 직접 구현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token+position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76422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single-head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8484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Linear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546" y="1847088"/>
            <a:ext cx="2580894" cy="102412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next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01   Linear 세 개로 Q·K·V를 만든다.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977639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02   scaled score와 causal mask를 직접 계산한다.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09160"/>
            <a:ext cx="10881360" cy="658368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03   attention 결과를 vocabulary logits로 변환한다.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softmax 축을 검증하기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각 query 행의 가중치 합이 1인지 검사한다.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98648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미래 key의 가중치가 0인지 검사한다.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22776"/>
            <a:ext cx="5120640" cy="94183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출력 shape와 유한값 여부를 검사한다.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74519"/>
            <a:ext cx="5596128" cy="3639312"/>
          </a:xfrm>
          <a:prstGeom prst="round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assert torch.allclose(A.sum(-1),</a:t>
            </a:r>
          </a:p>
          <a:p>
            <a:pPr>
              <a:spcAft>
                <a:spcPts val="10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    torch.ones_like(A.sum(-1)))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코퍼스를 먼저 분할하기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문장 단위 train/validation/test를 먼저 나눈다.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각 split 안에서만 문자 시퀀스와 window를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겹치는 window를 무작위로 나눈 뒤 평가하지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문장 분할 → 인코딩 → split별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입력과 target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block_size=32면 33개 토큰이 필요하다.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앞 32개는 입력, 뒤 32개는 정답이다.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decode로 한 칸 shift를 눈으로 확인한다.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x=tokens[i:i+T], y=tokens[i+1:i+T+1]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샘플링은 선택 규칙이다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argmax는 가장 높은 확률을 항상 고른다.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multinomial은 분포에서 무작위로 뽑는다.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temperature는 logits를 나눠 분포의 집중도를 바꾼다.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p = softmax(logits / temperature), temperature &gt;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35–50분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1 · attention 연산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§1–3: Q·K·V 손계산과 코드를 비교한다.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mask 전후 heatmap을 나란히 그린다.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행 합·미래 차단·shape assert를 통과한다.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50–58분 / 산출물: 점수와 attention heatmap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2 · 문자 언어 모델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§4–5: 코퍼스 분할과 shift를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bigram과 단일 헤드 모델을 짧게 학습한다.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동일 validation 토큰에서 손실을 비교한다.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58–70분 / 산출물: CE·perplexity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LAB 3 · 생성과 누출 검사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practice §6–7: temperature를 바꾸어 생성한다.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미래 토큰만 바꿔 이전 logits가 동일한지 검사한다.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학습된 attention 한 행을 읽고 한계를 적는다.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70–75분 / 산출물: 생성 3개 + causal 검사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50–75분 · practice.ipynb와 함께 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좋은 문자열과 좋은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그럴듯한 샘플 한 개는 충분한 평가가 아니다.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held-out loss와 여러 prompt 출력을 함께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반복·철자·문장 구조를 분리해 기록한다.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숫자 평가 + 표본 관찰 + 데이터 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mask를 빼면 왜 손실이 낮을까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학습 target은 입력의 다음 위치에 존재한다.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미래 참조를 허용하면 정답을 훔쳐볼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생성 시 미래가 없으므로 평가와 사용 조건이 달라진다.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낮은 손실이 항상 좋은 모델은 아니다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attention 그림의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가중치는 value를 섞는 계수다.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뒤의 Linear와 다른 표현 경로도 예측에 영향을 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높은 가중치를 인과적 중요도로 단정하지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관계를 관찰하되 설명을 과장하지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75–85분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출구 퀴즈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Q1. QKᵀ가 만드는 두 T축은 각각 무엇인가?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Q2. mask는 softmax 전과 후 중 언제 적용할까?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Q3. value 대신 key를 가중합하면 같은 연산일까?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query 위치 / key 위치 / 전달할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다음: 여러 관점과 깊이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단일 헤드로 한 종류의 혼합을 만들었다.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여러 헤드와 FFN으로 표현을 확장한다.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residual과 LayerNorm으로 블록을 연결한다.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자율 과제: mask·scaled attention·문맥 길이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85–90분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안정적인 softmax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각 행에서 최댓값을 빼도 확률은 같다.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지수 계산의 overflow 위험을 줄인다.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PyTorch softmax는 직접 exp를 나누는 것보다 적절하다.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softmax(s) = softmax(s−max(s))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padding 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길이가 다른 문장을 배치로 묶을 때 padding을 넣는다.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padding key를 보지 않도록 차단할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padding target은 손실에서 ignore_index로 제외한다.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causal mask + padding key mask + loss mask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API의 boolean mask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직접 masked_fill은 True인 곳을 차단하도록 작성할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SDPA의 bool attn_mask는 True인 곳을 허용한다.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MultiheadAttention의 일부 mask 규칙과 혼동하지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사용 중인 API 문서를 먼저 확인한다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문맥 길이와 비용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attention 행렬은 T×T다.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문맥 길이를 두 배로 하면 원소 수는 네 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projection 비용과 batch 크기도 총비용에 영향을 준다.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attention matrix memory ∝ B T²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tokenizer의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문자 단위는 vocabulary가 작고 시퀀스가 길다.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단어 단위는 희귀 단어와 UNK 문제가 커진다.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subword는 두 방식 사이의 절충을 제공한다.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토큰화가 바뀌면 T와 V가 함께 바뀐다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온도 손계산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logits=[2,1,0]에서 τ를 비교한다.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τ=0.5는 더 뾰족하고 τ=2는 더 완만하다.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τ가 작아도 확률 샘플링은 완전한 argmax와 다를 수 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τ→0⁺일 때 최대 점수에 확률 집중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부록 · baseline의 가치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bigram은 장거리 정보를 볼 수 없다.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구현이 단순해 데이터·loss 오류를 찾기 쉽다.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복잡한 모델이 이기지 못하면 설정과 예산을 점검한다.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baseline은 비교 기준이자 디버깅 도구다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심화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미래를 가리는 삼각형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74519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03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25603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5603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5603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5603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200" y="32461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2461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2461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2461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9319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931920"/>
            <a:ext cx="649224" cy="64922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002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4617720"/>
            <a:ext cx="649224" cy="64922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2057400"/>
            <a:ext cx="6126480" cy="137160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행 = query / 열 = key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1 = 허용 / 0 = 차단 (논리 mask)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softmax 후 각 행의 확률 합 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794760"/>
            <a:ext cx="6126480" cy="13716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위치 2는 0·1·2만 참조한다.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입력의 현재 토큰은 허용하고</a:t>
            </a:r>
          </a:p>
          <a:p>
            <a:pPr>
              <a:spcAft>
                <a:spcPts val="1000"/>
              </a:spcAft>
              <a:defRPr sz="2100" b="0">
                <a:solidFill>
                  <a:srgbClr val="13243A"/>
                </a:solidFill>
                <a:latin typeface="맑은 고딕"/>
              </a:defRPr>
            </a:pPr>
            <a:r>
              <a:t>그 다음 토큰을 정답으로 예측한다.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head 분할과 결합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194560" cy="128016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300" b="0">
                <a:solidFill>
                  <a:srgbClr val="FFFFFF"/>
                </a:solidFill>
                <a:latin typeface="맑은 고딕"/>
              </a:defRPr>
            </a:pPr>
            <a:r>
              <a:t>입력</a:t>
            </a:r>
          </a:p>
          <a:p>
            <a:pPr>
              <a:spcAft>
                <a:spcPts val="1000"/>
              </a:spcAft>
              <a:defRPr sz="2300" b="0">
                <a:solidFill>
                  <a:srgbClr val="FFFFFF"/>
                </a:solidFill>
                <a:latin typeface="맑은 고딕"/>
              </a:defRPr>
            </a:pPr>
            <a:r>
              <a:t>[B,T,64]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691640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1  ·  [B,T,16]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71800" y="2011680"/>
            <a:ext cx="795528" cy="731520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09560" y="2011680"/>
            <a:ext cx="777240" cy="731520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40480" y="2532888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2  ·  [B,T,16]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743200"/>
            <a:ext cx="795528" cy="109728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909560" y="2743200"/>
            <a:ext cx="777240" cy="109728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40480" y="3374136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3  ·  [B,T,16]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743200"/>
            <a:ext cx="795528" cy="950976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909560" y="2743200"/>
            <a:ext cx="777240" cy="950976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0" y="4215384"/>
            <a:ext cx="4023360" cy="658368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4  ·  [B,T,16]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743200"/>
            <a:ext cx="795528" cy="1792224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909560" y="2743200"/>
            <a:ext cx="777240" cy="1792224"/>
          </a:xfrm>
          <a:prstGeom prst="line">
            <a:avLst/>
          </a:prstGeom>
          <a:ln w="25400">
            <a:solidFill>
              <a:srgbClr val="645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78240" y="2103120"/>
            <a:ext cx="2468880" cy="137160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concat + W_O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[B,T,64]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head 축을 복원할 때 transpose → contiguous → view 순서를 확인한다.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next-token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6459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원본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92024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16459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입력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10896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645920" cy="50292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  <a:r>
              <a:t>정답 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4297680"/>
            <a:ext cx="740664" cy="740664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880360"/>
            <a:ext cx="3337560" cy="1737360"/>
          </a:xfrm>
          <a:prstGeom prst="roundRect">
            <a:avLst/>
          </a:prstGeom>
          <a:solidFill>
            <a:srgbClr val="E3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같은 열에서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x_t → y_t</a:t>
            </a:r>
          </a:p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정답은 원본의 다음 위치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시각 보충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시각 보충 · temperature와 확률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32918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τ=0.5  / logits=[2,1,0]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50834"/>
            <a:ext cx="713232" cy="2021165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4980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4298464"/>
            <a:ext cx="713232" cy="273535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0992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534981"/>
            <a:ext cx="713232" cy="3701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67004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2918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τ=1.0  / logits=[2,1,0]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020844"/>
            <a:ext cx="713232" cy="1551155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4456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4001361"/>
            <a:ext cx="713232" cy="570638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50468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362073"/>
            <a:ext cx="713232" cy="209926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6480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83080"/>
            <a:ext cx="32918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3243A"/>
                </a:solidFill>
                <a:latin typeface="맑은 고딕"/>
              </a:defRPr>
            </a:pPr>
            <a:r>
              <a:t>τ=2.0  / logits=[2,1,0]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391029"/>
            <a:ext cx="713232" cy="1180970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33932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0.51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855705"/>
            <a:ext cx="713232" cy="71629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29944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0.31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4137545"/>
            <a:ext cx="713232" cy="434454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000" b="0">
                <a:solidFill>
                  <a:srgbClr val="13243A"/>
                </a:solidFill>
                <a:latin typeface="맑은 고딕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259568" y="4663440"/>
            <a:ext cx="914400" cy="36576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13243A"/>
                </a:solidFill>
                <a:latin typeface="맑은 고딕"/>
              </a:defRPr>
            </a:pPr>
            <a:r>
              <a:t>0.19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607040" cy="45720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3243A"/>
                </a:solidFill>
                <a:latin typeface="맑은 고딕"/>
              </a:defRPr>
            </a:pPr>
            <a:r>
              <a:t>설명용 확률 계산. 온도는 모델 가중치를 바꾸지 않고 선택 분포를 바꾼다.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수업 외 복습 · 해당 개념 설명 시 함께 활용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28600"/>
            <a:ext cx="914400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6454BF"/>
                </a:solidFill>
                <a:latin typeface="맑은 고딕"/>
              </a:defRPr>
            </a:pPr>
            <a:r>
              <a:t>AIM  /  DEEP LEARNING STUDIO  /  WEEK 03  /  참고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01400" cy="86868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3243A"/>
                </a:solidFill>
                <a:latin typeface="맑은 고딕"/>
              </a:defRPr>
            </a:pPr>
            <a:r>
              <a:t>읽을거리와 출처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0512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01   Attention Is All You Need · Vaswani et 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02   Scaled Dot Product Attention · 공식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10899648" cy="75895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13243A"/>
                </a:solidFill>
                <a:latin typeface="맑은 고딕"/>
              </a:defRPr>
            </a:pPr>
            <a:r>
              <a:t>03   CrossEntropyLoss · 공식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4526280"/>
            <a:ext cx="10808208" cy="941832"/>
          </a:xfrm>
          <a:prstGeom prst="roundRect">
            <a:avLst/>
          </a:prstGeom>
          <a:solidFill>
            <a:srgbClr val="64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36576"/>
          <a:lstStyle/>
          <a:p>
            <a:pPr algn="ctr">
              <a:spcAft>
                <a:spcPts val="1000"/>
              </a:spcAft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원문 링크는 발표자 노트와 주차별 README에 수록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989320"/>
            <a:ext cx="10789920" cy="420624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53657D"/>
                </a:solidFill>
                <a:latin typeface="맑은 고딕"/>
              </a:defRPr>
            </a:pPr>
            <a:r>
              <a:t>생각하기 → 손으로 계산하기 → 코드로 검증하기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37376"/>
            <a:ext cx="10058400" cy="210312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3657D"/>
                </a:solidFill>
                <a:latin typeface="맑은 고딕"/>
              </a:defRPr>
            </a:pPr>
            <a:r>
              <a:t>Attention ① 관계를 계산하는 방법  •  2026 가을학기  •  PyTorch / Colab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0816" y="6382512"/>
            <a:ext cx="640080" cy="320040"/>
          </a:xfrm>
          <a:prstGeom prst="rect">
            <a:avLst/>
          </a:prstGeom>
          <a:noFill/>
        </p:spPr>
        <p:txBody>
          <a:bodyPr wrap="square" lIns="128016" rIns="128016" tIns="73152" bIns="36576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454BF"/>
                </a:solidFill>
                <a:latin typeface="맑은 고딕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