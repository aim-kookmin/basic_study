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[오프닝] 00–02분 · 이번 주에 만들 결과물 확인</a:t>
            </a:r>
          </a:p>
          <a:p/>
          <a:p>
            <a:r>
              <a:t>1주차 CNN과 학습 루프를 복습한다. CIFAR10은 최초 약 170MB 다운로드가 필요하다. 학습 데이터 일부와 작은 모델로 시작하며 고성능 벤치마크 재현을 목표로 하지 않는다.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[운영] 02–05분 · 실습 노트북 열기</a:t>
            </a:r>
          </a:p>
          <a:p/>
          <a:p>
            <a:r>
              <a:t>시작 전에 실습의 환경 셀과 데이터 다운로드를 실행해 둔다. 핵심 구간의 종료 시간을 지키고 심화 질문은 부록으로 연결한다. 실습은 실행만 하는 시간이 아니라 예측, 관찰, 설명까지 포함한다.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[개념] 05–20분</a:t>
            </a:r>
          </a:p>
          <a:p/>
          <a:p>
            <a:r>
              <a:t>첫 Conv의 in_channels를 3으로 바꾼다. CIFAR10 클래스 순서는 airplane, automobile, bird, cat, deer, dog, frog, horse, ship, truck이다. augmentation은 의미를 보존해야 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[개념] 05–20분</a:t>
            </a:r>
          </a:p>
          <a:p/>
          <a:p>
            <a:r>
              <a:t>성능이 낮다고 곧바로 많은 기법을 동시에 넣으면 어느 변화가 도움이 되었는지 알 수 없다. 기본 실습은 같은 네트워크에서 증강 유무를 비교하고 residual은 별도 확장한다.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[개념] 05–20분</a:t>
            </a:r>
          </a:p>
          <a:p/>
          <a:p>
            <a:r>
              <a:t>validation에 무작위 crop이 있으면 평가 자체가 흔들린다. 같은 Dataset 객체의 transform을 바꾸면 두 Subset에 동시에 영향을 줄 수 있어 별도 Dataset 객체를 사용한다.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[개념] 05–20분</a:t>
            </a:r>
          </a:p>
          <a:p/>
          <a:p>
            <a:r>
              <a:t>같은 정규화라는 한국어 때문에 개념을 혼동하기 쉽다. 실습 입력은 채널별 (x−0.5)/0.5로 변환한다. 이는 데이터 평균을 추정한 값이 아닌 고정적인 범위 변환이다.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[개념] 05–20분</a:t>
            </a:r>
          </a:p>
          <a:p/>
          <a:p>
            <a:r>
              <a:t>BatchNorm의 affine 파라미터와 running 통계를 구분한다. running_mean은 optimizer로 학습되는 파라미터가 아니다. eval을 놓치면 시험 데이터 배치 구성에 예측이 영향을 받는다.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[개념] 05–20분</a:t>
            </a:r>
          </a:p>
          <a:p/>
          <a:p>
            <a:r>
              <a:t>train 성능까지 나빠지는 문제와 train은 좋고 val만 나쁜 문제를 구분한다. residual은 깊은 네트워크 최적화를 돕는 구조이지 정확도 상승 보장 장치가 아니다.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[개념] 05–20분</a:t>
            </a:r>
          </a:p>
          <a:p/>
          <a:p>
            <a:r>
              <a:t>실습은 두 개 3×3 Conv를 갖는 작은 블록이다. 엄밀한 전체 ResNet 아키텍처 재현이라고 부르지 않는다. shortcut은 학습 경로를 추가한다.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[수식] 20–35분</a:t>
            </a:r>
          </a:p>
          <a:p/>
          <a:p>
            <a:r>
              <a:t>정규화된 텐서를 그대로 imshow하면 색이 이상할 수 있다. 색상을 자를 때 학습 입력을 바꾸지 말고 시각화 복사본에만 clamp를 적용한다.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[수식] 20–35분</a:t>
            </a:r>
          </a:p>
          <a:p/>
          <a:p>
            <a:r>
              <a:t>Conv2d의 BatchNorm은 채널별로 배치와 공간 축의 통계를 집계한다. 실습에서 내부 분산 추정 세부를 직접 구현하기보다 모드별 동작 차이에 집중한다.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[수식] 20–35분</a:t>
            </a:r>
          </a:p>
          <a:p/>
          <a:p>
            <a:r>
              <a:t>벡터에서는 1이 아니라 항등행렬 I다. 마지막 ReLU 같은 추가 연산을 제외한 덧셈 지점 기준 식임을 말한다. 안정성이 개선될 수 있다는 정도로 설명한다.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[수식] 20–35분</a:t>
            </a:r>
          </a:p>
          <a:p/>
          <a:p>
            <a:r>
              <a:t>입력 [B,32,32,32]를 예로 든다. projection에는 추가 파라미터가 생긴다. 비교 실험에서는 파라미터 수 변화를 보고해야 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[수식] 20–35분</a:t>
            </a:r>
          </a:p>
          <a:p/>
          <a:p>
            <a:r>
              <a:t>Dropout의 출력 스케일은 PyTorch가 조정한다. AdamW의 weight_decay를 손실에 L2 항을 더한 것과 일반적으로 완전히 같다고 설명하지 않는다.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[수식] 20–35분</a:t>
            </a:r>
          </a:p>
          <a:p/>
          <a:p>
            <a:r>
              <a:t>epoch 수가 같아도 데이터 수나 batch size가 다르면 업데이트 수가 다르다. 오늘 필수 비교는 동일 lr과 epoch로 고정하며 scheduler는 심화 항목이다.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[설계] 35–50분</a:t>
            </a:r>
          </a:p>
          <a:p/>
          <a:p>
            <a:r>
              <a:t>random_split의 두 결과가 하나의 Dataset을 공유하는 경우 transform을 별도로 설정할 수 없다. 실습은 동일 원본을 읽는 Dataset 인스턴스를 분리한다.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[설계] 35–50분</a:t>
            </a:r>
          </a:p>
          <a:p/>
          <a:p>
            <a:r>
              <a:t>GAP를 사용하면 입력 공간 크기를 Linear 상수에 직접 쓰지 않아도 된다. 다운샘플 횟수와 작은 이미지 해상도의 균형을 설명한다.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[설계] 35–50분</a:t>
            </a:r>
          </a:p>
          <a:p/>
          <a:p>
            <a:r>
              <a:t>best_state=model.state_dict()만 저장하는 실수를 설명한다. CPU 텐서 clone으로 저장해 GPU 메모리를 아낄 수도 있다. 노트북은 독립적인 복사본을 보관한다.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[설계] 35–50분</a:t>
            </a:r>
          </a:p>
          <a:p/>
          <a:p>
            <a:r>
              <a:t>seed를 맞춰도 모든 랜덤 연산 순서까지 완전히 같아지는 것은 아니다. 엄밀한 결론은 여러 seed와 반복이 필요하다. 이번 실습은 통제 실험 설계의 첫 단계다.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[설계] 35–50분</a:t>
            </a:r>
          </a:p>
          <a:p/>
          <a:p>
            <a:r>
              <a:t>가짜 데이터를 실제 CIFAR 성능처럼 보고하지 않는다. 데이터 접근이 실패하면 환경 점검만 가능하다는 것을 명시한다. 리더는 실행 결과가 저장된 실습 노트북을 백업으로 사용한다.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[실습] 50–75분 · practice.ipynb와 함께 진행</a:t>
            </a:r>
          </a:p>
          <a:p/>
          <a:p>
            <a:r>
              <a:t>좌우 반전이 클래스 의미를 유지하는지 말하게 한다. 숫자 데이터에서는 같은 증강이 적절하지 않을 수 있다. fixed normalization의 역변환도 확인한다.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[실습] 50–75분 · practice.ipynb와 함께 진행</a:t>
            </a:r>
          </a:p>
          <a:p/>
          <a:p>
            <a:r>
              <a:t>기본 설정의 적은 데이터와 epoch에서는 증강 조건이 더 낮을 수도 있다. 관측을 기대에 맞춰 해석하지 말고 왜 그런지 가설을 적는다. residual 비교는 자율 과제로 확장한다.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[실습] 50–75분 · practice.ipynb와 함께 진행</a:t>
            </a:r>
          </a:p>
          <a:p/>
          <a:p>
            <a:r>
              <a:t>test로 두 모델 중 승자를 고르지 않는다. 오분류는 해상도, 배경, 객체 유사성 등 관찰 가능한 근거로 설명한다. 모델의 생각을 추측해 단정하지 않는다.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[분석] 75–85분</a:t>
            </a:r>
          </a:p>
          <a:p/>
          <a:p>
            <a:r>
              <a:t>두 조건의 train loss는 입력 분포가 다르다. train loss만 직접 비교하지 말고 동일한 validation 입력에서 비교한다. 증강 강도와 학습 시간을 분리해서 후속 실험한다.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[분석] 75–85분</a:t>
            </a:r>
          </a:p>
          <a:p/>
          <a:p>
            <a:r>
              <a:t>모든 조합을 수업 시간에 돌릴 필요는 없다. 과제 팀끼리 조건을 나누더라도 분할과 설정을 공유해야 결과를 합칠 수 있다.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[분석] 75–85분</a:t>
            </a:r>
          </a:p>
          <a:p/>
          <a:p>
            <a:r>
              <a:t>1% 상승만 쓰지 말고 몇 표본에서 몇 개 더 맞혔는지 연결한다. 짧은 실험의 불확실성을 인정하는 것이 좋은 실험 보고다.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[회고] 85–90분</a:t>
            </a:r>
          </a:p>
          <a:p/>
          <a:p>
            <a:r>
              <a:t>정답: 기본 단일 평가에서는 고정 전처리 사용, eval은 gradient를 끄지 않음, projection으로 채널과 공간 크기를 맞춤. test-time augmentation은 별도 평가 기법이며 오늘 범위와 구분한다.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[회고] 85–90분</a:t>
            </a:r>
          </a:p>
          <a:p/>
          <a:p>
            <a:r>
              <a:t>합성곱과 어텐션을 완전히 대립되는 개념으로 소개하지 않는다. 둘 다 표현을 섞지만 이웃 선택과 가중치 결정 방식이 다르다는 연결점을 제시한다.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[부록] 수업 외 심화</a:t>
            </a:r>
          </a:p>
          <a:p/>
          <a:p>
            <a:r>
              <a:t>핵심 실습은 다운로드와 입력 크기 비용을 줄이기 위해 작은 모델을 처음부터 학습한다. 사전학습 ResNet을 추가한다면 weights.transforms()와 클래스 수 변경을 확인한다.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[부록] 수업 외 심화</a:t>
            </a:r>
          </a:p>
          <a:p/>
          <a:p>
            <a:r>
              <a:t>model.train() 호출이 모든 하위 모듈을 학습 모드로 되돌릴 수 있다. backbone.eval()을 다시 설정해야 하는 상황을 예로 든다.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[부록] 수업 외 심화</a:t>
            </a:r>
          </a:p>
          <a:p/>
          <a:p>
            <a:r>
              <a:t>정확도와 calibration은 서로 다른 지표다. label smoothing이 모든 데이터에서 반드시 개선된다고 말하지 않는다.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[부록] 수업 외 심화</a:t>
            </a:r>
          </a:p>
          <a:p/>
          <a:p>
            <a:r>
              <a:t>CIFAR10은 기본적으로 클래스 균형 데이터지만 부분집합은 약간 달라질 수 있다. 실제 업무 데이터에서 분포가 달라질 경우를 토론한다.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[부록] 수업 외 심화</a:t>
            </a:r>
          </a:p>
          <a:p/>
          <a:p>
            <a:r>
              <a:t>이 강의의 필수 코드는 복잡도를 줄여 float32로 실행한다. 최신 환경의 torch.amp API를 확인하고 적용한다. CPU에서 GPU와 같은 이득을 기대하지 않는다.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[부록] 수업 외 심화</a:t>
            </a:r>
          </a:p>
          <a:p/>
          <a:p>
            <a:r>
              <a:t>평균과 표준편차는 반복 수와 함께 적는다. seed 하나에서 이긴 기법을 보편적 승자로 부르지 않는다.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[부록] 수업 외 심화</a:t>
            </a:r>
          </a:p>
          <a:p/>
          <a:p>
            <a:r>
              <a:t>리더용 해설은 projected shortcut과 클래스 지표 계산을 포함한다. 실험 결과는 실행마다 달라서 정해진 정확도 기준으로 통과 여부를 판정하지 않는다.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[시각 보충] 수업 외 복습 · 해당 개념 설명 시 함께 활용 가능</a:t>
            </a:r>
          </a:p>
          <a:p/>
          <a:p>
            <a:r>
              <a:t>숫자 4개씩을 직접 곱해 합한다. PyTorch의 cross-correlation 방식이며 필터를 뒤집지 않는다. 출력 한 칸의 계산과 전체 특징 맵을 구분한다.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[시각 보충] 수업 외 복습 · 해당 개념 설명 시 함께 활용 가능</a:t>
            </a:r>
          </a:p>
          <a:p/>
          <a:p>
            <a:r>
              <a:t>도형 크기는 해상도 감소를 나타내는 개념도이며 실제 텐서 크기의 정밀한 비율은 아니다. 각 단계의 B,C,H,W를 말하게 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[시각 보충] 수업 외 복습 · 해당 개념 설명 시 함께 활용 가능</a:t>
            </a:r>
          </a:p>
          <a:p/>
          <a:p>
            <a:r>
              <a:t>학습 결과가 아닌 계산 설명용 숫자다. 이 예시에서 precision과 recall이 우연히 같지만 분모는 다르다. B행에서 B를 A로 2개, C로 2개 혼동했다.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[시각 보충] 수업 외 복습 · 해당 개념 설명 시 함께 활용 가능</a:t>
            </a:r>
          </a:p>
          <a:p/>
          <a:p>
            <a:r>
              <a:t>두 경로의 차이를 한 칸으로 한정한 통제 실험 도식이다. seed를 맞추더라도 실제 난수 호출 흐름과 GPU 비결정성은 별도로 고려해야 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[참고] </a:t>
            </a:r>
          </a:p>
          <a:p/>
          <a:p>
            <a:r>
              <a:t>PyTorch · 이미지 분류 튜토리얼</a:t>
            </a:r>
          </a:p>
          <a:p>
            <a:r>
              <a:t>https://docs.pytorch.org/tutorials/beginner/blitz/cifar10_tutorial.html</a:t>
            </a:r>
          </a:p>
          <a:p>
            <a:r>
              <a:t>Conv2d · 공식 API</a:t>
            </a:r>
          </a:p>
          <a:p>
            <a:r>
              <a:t>https://docs.pytorch.org/docs/stable/generated/torch.nn.Conv2d.html</a:t>
            </a:r>
          </a:p>
          <a:p>
            <a:r>
              <a:t>Deep Residual Learning · He et al.</a:t>
            </a:r>
          </a:p>
          <a:p>
            <a:r>
              <a:t>https://arxiv.org/abs/1512.03385</a:t>
            </a:r>
          </a:p>
          <a:p/>
          <a:p>
            <a:r>
              <a:t>슬라이드 문장·도식과 실습 코드는 이 수업을 위해 새로 작성했다. 원문 그림을 복제하지 않았다.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02  /  오프닝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CNN ② 성능을 개선하는 실험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65960"/>
            <a:ext cx="6675120" cy="35204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CIFAR10에서 증강과 정규화의 역할을 구분한다.</a:t>
            </a:r>
          </a:p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Residual block을 구현하고 공정한 비교 실험을 한다.</a:t>
            </a:r>
          </a:p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오분류·클래스별 성능·일반화 간격으로 결과를 해석한다.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874519"/>
            <a:ext cx="3520440" cy="2423160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BASELINE</a:t>
            </a:r>
          </a:p>
          <a:p>
            <a:pPr>
              <a:spcAft>
                <a:spcPts val="1000"/>
              </a:spcAft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→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00–02분 · 이번 주에 만들 결과물 확인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② 성능을 개선하는 실험  •  2026 가을학기  •  PyTorch / Colab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02  /  운영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90분 수업 지도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00–05 도입 · 05–20 개념 · 20–35 수식과 손계산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35–50 구현 설계 · 50–75 실습 · 75–85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85–90 회고 · 부록과 자율 과제는 수업 이후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90 MIN  /  개념 45 + 실습 25 + 분석·회고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02–05분 · 실습 노트북 열기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② 성능을 개선하는 실험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02  /  개념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FashionMNIST에서 CIFAR10으로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흑백 28×28에서 컬러 32×32로 바뀐다.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배경·시점·색상 변화가 커진다.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같은 10개 클래스라도 분류 난도는 다르다.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[B,1,28,28] → [B,3,32,32]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05–20분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② 성능을 개선하는 실험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02  /  개념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실험의 출발점은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단순한 기준 모델을 먼저 고정한다.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변경할 요인은 한 번에 하나를 우선한다.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데이터 분할과 평가 절차를 모든 조건에서 공유한다.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가설: 좌우 반전·crop이 일반화에 도움을 줄까?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05–20분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② 성능을 개선하는 실험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02  /  개념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증강은 학습 데이터에만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47088"/>
            <a:ext cx="2580894" cy="1024128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train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76422" y="1847088"/>
            <a:ext cx="2580894" cy="1024128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무작위 증강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58484" y="1847088"/>
            <a:ext cx="2580894" cy="1024128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정규화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40546" y="1847088"/>
            <a:ext cx="2580894" cy="1024128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모델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246120"/>
            <a:ext cx="10881360" cy="658368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01   RandomCrop은 위치 변화에 대응하도록 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977639"/>
            <a:ext cx="10881360" cy="658368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02   HorizontalFlip은 좌우 변화에 대응하도록 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709160"/>
            <a:ext cx="10881360" cy="658368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03   validation/test는 고정된 전처리를 사용한다.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05–20분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② 성능을 개선하는 실험  •  2026 가을학기  •  PyTorch / Colab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02  /  개념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정규화와 규제는 다르다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입력 Normalize는 데이터의 수치 범위를 조정한다.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BatchNorm은 중간 활성화의 통계를 사용한다.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weight decay·Dropout은 과적합 완화를 위한 수단이다.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입력 처리 / 활성화 처리 / 파라미터·표현 규제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05–20분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② 성능을 개선하는 실험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02  /  개념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BatchNorm의 두 가지 모드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학습 시에는 미니배치 통계를 사용한다.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평가 시에는 누적된 running 통계를 사용한다.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작은 배치나 분포 변화에서는 성능이 흔들릴 수 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Conv → BatchNorm → ReLU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05–20분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② 성능을 개선하는 실험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02  /  개념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더 깊으면 항상 더 좋을까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깊이는 표현력을 늘리지만 최적화를 어렵게 만들 수 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학습 데이터가 적으면 과적합도 커질 수 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연결 구조와 학습 예산을 함께 고려해야 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모델 크기 × 데이터 × 최적화 × 예산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05–20분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② 성능을 개선하는 실험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02  /  개념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잔차 연결의 핵심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47088"/>
            <a:ext cx="2024481" cy="1024128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20009" y="1847088"/>
            <a:ext cx="2024481" cy="1024128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Conv-BN-ReLU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45659" y="1847088"/>
            <a:ext cx="2024481" cy="1024128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Conv-BN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71308" y="1847088"/>
            <a:ext cx="2024481" cy="1024128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F(x)+x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96958" y="1847088"/>
            <a:ext cx="2024481" cy="1024128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ReLU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46120"/>
            <a:ext cx="10881360" cy="658368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01   블록은 x 전체 대신 수정량 F(x)를 학습한다.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977639"/>
            <a:ext cx="10881360" cy="658368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02   입력 x가 덧셈 경로로 전달된다.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709160"/>
            <a:ext cx="10881360" cy="658368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03   덧셈하려면 두 경로의 shape가 같아야 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05–20분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② 성능을 개선하는 실험  •  2026 가을학기  •  PyTorch / Colab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02  /  수식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입력 Normalize 손계산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ToTensor 뒤 픽셀은 보통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1 범위다.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mean=0.5, std=0.5이면 0은 −1, 1은 1이다.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97096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04   시각화에는 역변환을 적용한다.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x_norm = (x−0.5)/0.5; x = 0.5 x_norm + 0.5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20–35분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② 성능을 개선하는 실험  •  2026 가을학기  •  PyTorch / Colab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02  /  수식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BatchNorm의 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채널별 평균과 분산으로 활성화를 표준화한다.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학습 가능한 γ와 β가 스케일과 이동을 조정한다.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ε는 분모가 0에 가까울 때 수치 불안정을 줄인다.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y = γ (x−μ) / sqrt(σ²+ε) + 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20–35분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② 성능을 개선하는 실험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02  /  수식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Residual의 기울기 경로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y=x+F(x)이면 직접 경로의 미분이 1을 포함한다.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F가 작아도 입력이 전달될 수 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모든 gradient 문제가 자동으로 사라지는 것은 아니다.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dy/dx = I + dF/dx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20–35분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② 성능을 개선하는 실험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02  /  수식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projection shortcut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stride 2나 채널 증가로 shape가 달라질 수 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1×1 Conv와 같은 stride로 shortcut도 맞춘다.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덧셈은 브로드캐스팅에 기대지 않고 동일 shape로 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F(x): [B,64,16,16] / P(x): [B,64,16,16]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20–35분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② 성능을 개선하는 실험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02  /  수식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Dropout과 weight decay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Dropout은 학습 시 일부 활성화를 무작위로 비운다.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AdamW는 파라미터 감쇠를 optimizer update와 분리한다.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각 기법의 강도는 validation으로 선택한다.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p_dropout ↑ / weight_decay ↑ → 항상 성능 ↑ 는 아님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20–35분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② 성능을 개선하는 실험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02  /  수식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학습률 곡선 읽기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너무 큰 lr은 손실을 진동·발산시킬 수 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너무 작은 lr은 같은 예산에서 충분히 학습하지 못한다.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scheduler를 썼다면 실제 lr 기록을 함께 남긴다.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학습률 × 업데이트 수를 함께 비교한다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20–35분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② 성능을 개선하는 실험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02  / 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Dataset 공유 함정 피하기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47088"/>
            <a:ext cx="2580894" cy="1024128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고정 인덱스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76422" y="1847088"/>
            <a:ext cx="2580894" cy="1024128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train Dataset / val Dataset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58484" y="1847088"/>
            <a:ext cx="2580894" cy="1024128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Subset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40546" y="1847088"/>
            <a:ext cx="2580894" cy="1024128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DataLoader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246120"/>
            <a:ext cx="10881360" cy="658368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01   분할 인덱스를 먼저 한 번만 만든다.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977639"/>
            <a:ext cx="10881360" cy="658368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02   train용 Dataset에는 증강 transform을 준다.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709160"/>
            <a:ext cx="10881360" cy="658368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03   validation용 Dataset에는 고정 transform을 준다.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35–50분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② 성능을 개선하는 실험  •  2026 가을학기  •  PyTorch / Colab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02  / 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작은 CIFAR 분류기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47088"/>
            <a:ext cx="2024481" cy="1024128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32×32×3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20009" y="1847088"/>
            <a:ext cx="2024481" cy="1024128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16×16×32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45659" y="1847088"/>
            <a:ext cx="2024481" cy="1024128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8×8×64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71308" y="1847088"/>
            <a:ext cx="2024481" cy="1024128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GAP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96958" y="1847088"/>
            <a:ext cx="2024481" cy="1024128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46120"/>
            <a:ext cx="10881360" cy="658368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01   Conv-BN-ReLU 두 블록으로 특징을 추출한다.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977639"/>
            <a:ext cx="10881360" cy="658368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02   AdaptiveAvgPool로 공간 평균을 구한다.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709160"/>
            <a:ext cx="10881360" cy="658368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03   Linear는 채널 수에서 클래스 수로 연결한다.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35–50분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② 성능을 개선하는 실험  •  2026 가을학기  •  PyTorch / Colab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02  / 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최고 모델을 제대로 복사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874519"/>
            <a:ext cx="5120640" cy="94183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3243A"/>
                </a:solidFill>
                <a:latin typeface="맑은 고딕"/>
              </a:defRPr>
            </a:pPr>
            <a:r>
              <a:t>validation loss가 개선될 때 state_dict를 복사한다.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898648"/>
            <a:ext cx="5120640" cy="94183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3243A"/>
                </a:solidFill>
                <a:latin typeface="맑은 고딕"/>
              </a:defRPr>
            </a:pPr>
            <a:r>
              <a:t>참조만 저장하면 뒤의 학습으로 값이 바뀔 수 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922776"/>
            <a:ext cx="5120640" cy="94183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3243A"/>
                </a:solidFill>
                <a:latin typeface="맑은 고딕"/>
              </a:defRPr>
            </a:pPr>
            <a:r>
              <a:t>학습 후 최고 가중치를 복원해 분석한다.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874519"/>
            <a:ext cx="5596128" cy="3639312"/>
          </a:xfrm>
          <a:prstGeom prst="roundRect">
            <a:avLst/>
          </a:prstGeom>
          <a:solidFill>
            <a:srgbClr val="13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0">
                <a:solidFill>
                  <a:srgbClr val="FFFFFF"/>
                </a:solidFill>
                <a:latin typeface="Consolas"/>
              </a:defRPr>
            </a:pPr>
            <a:r>
              <a:t>best = copy.deepcopy(model.state_dict())</a:t>
            </a:r>
          </a:p>
          <a:p>
            <a:pPr>
              <a:spcAft>
                <a:spcPts val="1000"/>
              </a:spcAft>
              <a:defRPr sz="1700" b="0">
                <a:solidFill>
                  <a:srgbClr val="FFFFFF"/>
                </a:solidFill>
                <a:latin typeface="Consolas"/>
              </a:defRPr>
            </a:pPr>
            <a:r>
              <a:t>model.load_state_dict(best)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35–50분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② 성능을 개선하는 실험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02  / 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비교 조건을 표로 고정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baseline과 augmentation 모델은 같은 초기 seed를 쓴다.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분할, batch, lr, epoch와 평가 표본을 맞춘다.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벽시계 시간과 파라미터 수를 같이 기록한다.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비교: base / augment / residual(확장)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35–50분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② 성능을 개선하는 실험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02  / 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실패 시 복구 경로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다운로드는 수업 전에 끝낸다.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CPU에서는 TRAIN_N과 EPOCHS를 줄인다.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학습이 길면 첫 비교까지만 하고 분석 셀로 이동한다.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먼저 끝까지 실행 → 그다음 예산 확대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35–50분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② 성능을 개선하는 실험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02  / 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LAB 1 · 증강을 눈으로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practice §1–3: 같은 이미지의 증강 8장을 그린다.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validation 이미지가 반복 호출에도 같은지 검사한다.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작은 모델과 residual block의 shape를 확인한다.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50–57분 / 산출물: 증강 격자 + shape assert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50–75분 · practice.ipynb와 함께 진행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② 성능을 개선하는 실험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02  / 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LAB 2 · 두 조건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practice §4: base와 augment를 같은 예산으로 학습한다.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validation 손실로 각 조건의 최고 모델을 저장한다.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곡선과 파라미터·시간을 표에 정리한다.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57–69분 / 산출물: 조건별 곡선과 결과 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50–75분 · practice.ipynb와 함께 진행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② 성능을 개선하는 실험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02  / 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LAB 3 · 선택과 최종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practice §5–6: validation으로 최종 조건을 선택한다.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confusion matrix와 오분류 이미지를 확인한다.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선택한 모델만 test에서 한 번 평가한다.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69–75분 / 산출물: 최종 평가 + 실패 유형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50–75분 · practice.ipynb와 함께 진행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② 성능을 개선하는 실험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02  / 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증강이 손해처럼 보일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같은 epoch에서 학습 문제가 더 어려워진다.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훈련 표본이나 업데이트 수가 부족할 수 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변환이 과하거나 클래스 의미를 훼손했을 수 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한 번의 하락 ≠ 증강은 쓸모없다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75–85분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② 성능을 개선하는 실험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02  / 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ablation을 읽는 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하나의 구성 요소를 제거하거나 추가한다.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나머지 조건을 고정해 차이를 해석한다.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상호작용이 있으면 한 기법의 효과가 조건에 따라 달라진다.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기준 → +증강 → +잔차 → 반복 seed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75–85분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② 성능을 개선하는 실험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02  / 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좋은 결과 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주장: 어떤 조건이 어떤 지표에서 달랐는가.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증거: 표·곡선·실패 예시를 제시한다.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한계: 예산·표본·seed·데이터 범위를 적는다.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주장 / 증거 / 한계 / 다음 실험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75–85분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② 성능을 개선하는 실험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02  /  회고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출구 퀴즈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Q1. validation에도 RandomCrop을 넣어도 될까?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Q2. eval()은 gradient 계산을 자동으로 끌까?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Q3. 채널 수가 다르면 residual을 어떻게 더할까?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답보다 이유가 중요하다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85–90분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② 성능을 개선하는 실험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02  /  회고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이미지에서 문장으로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CNN은 지역 패턴을 공유 가중치로 찾는다.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문장에서는 먼 토큰의 관계도 직접 연결하고 싶다.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다음 주에는 관계의 가중치를 입력마다 계산한다.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다음: Q·K·V를 직접 구현한다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85–90분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② 성능을 개선하는 실험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02  /  부록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부록 · 전이 학습의 절차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사전학습 가중치와 해당 전처리를 함께 확인한다.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분류 헤드를 교체하고 먼저 헤드만 학습할 수 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이후 작은 lr로 일부 또는 전체를 미세조정한다.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pretrained backbone → new head → fine-tune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수업 외 심화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② 성능을 개선하는 실험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02  /  부록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부록 · freeze와 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requires_grad=False는 파라미터 gradient를 막는다.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eval은 BatchNorm·Dropout의 모드를 바꾼다.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동결된 backbone의 통계 갱신 여부도 결정해야 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freeze ≠ eval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수업 외 심화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② 성능을 개선하는 실험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02  /  부록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부록 · label smoothing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정답 확률 목표를 한 점에서 조금 분산한다.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과도한 확신을 완화할 수 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강도가 크면 학습 신호를 약하게 만들 수 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nn.CrossEntropyLoss(label_smoothing=0.1)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수업 외 심화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② 성능을 개선하는 실험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02  /  부록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부록 · class imbalance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전체 정확도가 다수 클래스에 좌우될 수 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클래스별 recall과 macro 평균을 함께 본다.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샘플링·가중 손실은 분포와 목적에 따라 선택한다.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macro recall = 클래스별 recall의 평균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수업 외 심화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② 성능을 개선하는 실험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02  /  부록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부록 · mixed precision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일부 연산을 낮은 정밀도로 수행한다.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GPU에서 메모리와 속도 이점을 얻을 수 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수치 안정성과 지원 dtype을 확인해야 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속도 향상은 하드웨어와 모델에 의존한다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수업 외 심화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② 성능을 개선하는 실험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02  /  부록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부록 · 재현성의 경계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seed는 난수 흐름을 고정하는 출발점이다.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device와 라이브러리 버전에 따라 결과가 달라질 수 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완전한 bitwise 재현과 통계적 재현을 구분한다.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동일 설정 + 여러 seed + 분포 보고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수업 외 심화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② 성능을 개선하는 실험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02  /  부록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부록 · 다음 실험 제안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residual on/off를 같은 조건으로 비교한다.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class recall을 구현하고 최약 클래스를 찾는다.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실패 사례를 한 가지 증강 가설로 연결한다.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자율 과제: residual ablation + 보고서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수업 외 심화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② 성능을 개선하는 실험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02  /  시각 보충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시각 보충 · 패치와 필터의 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2743200" cy="45720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입력 패치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423160"/>
            <a:ext cx="786384" cy="78638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2423160"/>
            <a:ext cx="786384" cy="78638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3246120"/>
            <a:ext cx="786384" cy="78638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3246120"/>
            <a:ext cx="786384" cy="78638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697480"/>
            <a:ext cx="457200" cy="5486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3200" b="0">
                <a:solidFill>
                  <a:srgbClr val="13243A"/>
                </a:solidFill>
                <a:latin typeface="맑은 고딕"/>
              </a:defRPr>
            </a:pPr>
            <a:r>
              <a:t>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1737360"/>
            <a:ext cx="2743200" cy="45720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공유 필터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2423160"/>
            <a:ext cx="786384" cy="78638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2423160"/>
            <a:ext cx="786384" cy="78638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3246120"/>
            <a:ext cx="786384" cy="78638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3246120"/>
            <a:ext cx="786384" cy="78638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-1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697480"/>
            <a:ext cx="457200" cy="5486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3200" b="0">
                <a:solidFill>
                  <a:srgbClr val="13243A"/>
                </a:solidFill>
                <a:latin typeface="맑은 고딕"/>
              </a:defRPr>
            </a:pPr>
            <a:r>
              <a:t>=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2240280"/>
            <a:ext cx="4297680" cy="1554480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1×1 + 2×0</a:t>
            </a:r>
          </a:p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+ 3×0 + 4×(−1) = −3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617720"/>
            <a:ext cx="10332720" cy="914400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300" b="0">
                <a:solidFill>
                  <a:srgbClr val="FFFFFF"/>
                </a:solidFill>
                <a:latin typeface="맑은 고딕"/>
              </a:defRPr>
            </a:pPr>
            <a:r>
              <a:t>bias=1을 더하면 −2  /  같은 필터를 다음 패치로 이동한다.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수업 외 복습 · 해당 개념 설명 시 함께 활용 가능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② 성능을 개선하는 실험  •  2026 가을학기  •  PyTorch / Colab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02  /  시각 보충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시각 보충 · 해상도와 채널의 흐름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1901952"/>
            <a:ext cx="1463040" cy="1463040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786384" y="1956816"/>
            <a:ext cx="1463040" cy="1463040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463040" cy="1463040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48640" y="4297680"/>
            <a:ext cx="2194560" cy="73152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13243A"/>
                </a:solidFill>
                <a:latin typeface="맑은 고딕"/>
              </a:defRPr>
            </a:pPr>
            <a:r>
              <a:t>3 × 32 × 32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77440" y="3291840"/>
            <a:ext cx="457199" cy="0"/>
          </a:xfrm>
          <a:prstGeom prst="line">
            <a:avLst/>
          </a:prstGeom>
          <a:ln w="25400">
            <a:solidFill>
              <a:srgbClr val="14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081528" y="2176272"/>
            <a:ext cx="1463040" cy="1188720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</a:p>
        </p:txBody>
      </p:sp>
      <p:sp>
        <p:nvSpPr>
          <p:cNvPr id="10" name="Rounded Rectangle 9"/>
          <p:cNvSpPr/>
          <p:nvPr/>
        </p:nvSpPr>
        <p:spPr>
          <a:xfrm>
            <a:off x="3026664" y="2231136"/>
            <a:ext cx="1463040" cy="1188720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2971800" y="2286000"/>
            <a:ext cx="1463040" cy="1188720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2788920" y="4297680"/>
            <a:ext cx="2194560" cy="73152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13243A"/>
                </a:solidFill>
                <a:latin typeface="맑은 고딕"/>
              </a:defRPr>
            </a:pPr>
            <a:r>
              <a:t>32 × 16 × 16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617720" y="3291840"/>
            <a:ext cx="457200" cy="0"/>
          </a:xfrm>
          <a:prstGeom prst="line">
            <a:avLst/>
          </a:prstGeom>
          <a:ln w="25400">
            <a:solidFill>
              <a:srgbClr val="14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321808" y="2450591"/>
            <a:ext cx="1463040" cy="914400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</a:p>
        </p:txBody>
      </p:sp>
      <p:sp>
        <p:nvSpPr>
          <p:cNvPr id="15" name="Rounded Rectangle 14"/>
          <p:cNvSpPr/>
          <p:nvPr/>
        </p:nvSpPr>
        <p:spPr>
          <a:xfrm>
            <a:off x="5266944" y="2505456"/>
            <a:ext cx="1463040" cy="914400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</a:p>
        </p:txBody>
      </p:sp>
      <p:sp>
        <p:nvSpPr>
          <p:cNvPr id="16" name="Rounded Rectangle 15"/>
          <p:cNvSpPr/>
          <p:nvPr/>
        </p:nvSpPr>
        <p:spPr>
          <a:xfrm>
            <a:off x="5212080" y="2560320"/>
            <a:ext cx="1463040" cy="914400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5029200" y="4297680"/>
            <a:ext cx="2194560" cy="73152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13243A"/>
                </a:solidFill>
                <a:latin typeface="맑은 고딕"/>
              </a:defRPr>
            </a:pPr>
            <a:r>
              <a:t>64 × 8 × 8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58000" y="3291840"/>
            <a:ext cx="457200" cy="0"/>
          </a:xfrm>
          <a:prstGeom prst="line">
            <a:avLst/>
          </a:prstGeom>
          <a:ln w="25400">
            <a:solidFill>
              <a:srgbClr val="14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562088" y="2724912"/>
            <a:ext cx="1463040" cy="640080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</a:p>
        </p:txBody>
      </p:sp>
      <p:sp>
        <p:nvSpPr>
          <p:cNvPr id="20" name="Rounded Rectangle 19"/>
          <p:cNvSpPr/>
          <p:nvPr/>
        </p:nvSpPr>
        <p:spPr>
          <a:xfrm>
            <a:off x="7507224" y="2779776"/>
            <a:ext cx="1463040" cy="640080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</a:p>
        </p:txBody>
      </p:sp>
      <p:sp>
        <p:nvSpPr>
          <p:cNvPr id="21" name="Rounded Rectangle 20"/>
          <p:cNvSpPr/>
          <p:nvPr/>
        </p:nvSpPr>
        <p:spPr>
          <a:xfrm>
            <a:off x="7452360" y="2834640"/>
            <a:ext cx="1463040" cy="640080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7269480" y="4297680"/>
            <a:ext cx="2194560" cy="73152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13243A"/>
                </a:solidFill>
                <a:latin typeface="맑은 고딕"/>
              </a:defRPr>
            </a:pPr>
            <a:r>
              <a:t>GAP: 64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098280" y="3291840"/>
            <a:ext cx="457200" cy="0"/>
          </a:xfrm>
          <a:prstGeom prst="line">
            <a:avLst/>
          </a:prstGeom>
          <a:ln w="25400">
            <a:solidFill>
              <a:srgbClr val="14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802368" y="2907791"/>
            <a:ext cx="1463040" cy="457200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</a:p>
        </p:txBody>
      </p:sp>
      <p:sp>
        <p:nvSpPr>
          <p:cNvPr id="25" name="Rounded Rectangle 24"/>
          <p:cNvSpPr/>
          <p:nvPr/>
        </p:nvSpPr>
        <p:spPr>
          <a:xfrm>
            <a:off x="9747504" y="2962656"/>
            <a:ext cx="1463040" cy="457200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</a:p>
        </p:txBody>
      </p:sp>
      <p:sp>
        <p:nvSpPr>
          <p:cNvPr id="26" name="Rounded Rectangle 25"/>
          <p:cNvSpPr/>
          <p:nvPr/>
        </p:nvSpPr>
        <p:spPr>
          <a:xfrm>
            <a:off x="9692640" y="3017520"/>
            <a:ext cx="1463040" cy="457200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9509760" y="4297680"/>
            <a:ext cx="2194560" cy="73152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13243A"/>
                </a:solidFill>
                <a:latin typeface="맑은 고딕"/>
              </a:defRPr>
            </a:pPr>
            <a:r>
              <a:t>10 logits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303520"/>
            <a:ext cx="10698480" cy="45720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B는 모든 단계에서 유지된다. 채널 수와 공간 해상도를 서로 바꾸어 읽지 않는다.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수업 외 복습 · 해당 개념 설명 시 함께 활용 가능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② 성능을 개선하는 실험  •  2026 가을학기  •  PyTorch / Colab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02  /  시각 보충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시각 보충 · 혼동 행렬 읽기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3657600" cy="50292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설명용 3-class confusion matrix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560320"/>
            <a:ext cx="740664" cy="740664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48840" y="2560320"/>
            <a:ext cx="740664" cy="7406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2560320"/>
            <a:ext cx="740664" cy="7406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337560"/>
            <a:ext cx="740664" cy="7406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48840" y="3337560"/>
            <a:ext cx="740664" cy="740664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3337560"/>
            <a:ext cx="740664" cy="7406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4114800"/>
            <a:ext cx="740664" cy="7406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48840" y="4114800"/>
            <a:ext cx="740664" cy="7406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4114800"/>
            <a:ext cx="740664" cy="740664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148840"/>
            <a:ext cx="2743200" cy="36576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13243A"/>
                </a:solidFill>
                <a:latin typeface="맑은 고딕"/>
              </a:defRPr>
            </a:pPr>
            <a:r>
              <a:t>예측 A      B      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788920"/>
            <a:ext cx="731520" cy="23774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3243A"/>
                </a:solidFill>
                <a:latin typeface="맑은 고딕"/>
              </a:defRPr>
            </a:pPr>
            <a:r>
              <a:t>정답</a:t>
            </a:r>
          </a:p>
          <a:p>
            <a:pPr>
              <a:spcAft>
                <a:spcPts val="1000"/>
              </a:spcAft>
              <a:defRPr sz="1700" b="0">
                <a:solidFill>
                  <a:srgbClr val="13243A"/>
                </a:solidFill>
                <a:latin typeface="맑은 고딕"/>
              </a:defRPr>
            </a:pPr>
            <a:r>
              <a:t>A</a:t>
            </a:r>
          </a:p>
          <a:p>
            <a:pPr>
              <a:spcAft>
                <a:spcPts val="1000"/>
              </a:spcAft>
              <a:defRPr sz="1700" b="0">
                <a:solidFill>
                  <a:srgbClr val="13243A"/>
                </a:solidFill>
                <a:latin typeface="맑은 고딕"/>
              </a:defRPr>
            </a:pPr>
            <a:r>
              <a:t>B</a:t>
            </a:r>
          </a:p>
          <a:p>
            <a:pPr>
              <a:spcAft>
                <a:spcPts val="1000"/>
              </a:spcAft>
              <a:defRPr sz="1700" b="0">
                <a:solidFill>
                  <a:srgbClr val="13243A"/>
                </a:solidFill>
                <a:latin typeface="맑은 고딕"/>
              </a:defRPr>
            </a:pPr>
            <a:r>
              <a:t>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60" y="2286000"/>
            <a:ext cx="6217920" cy="1371600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B recall = 6 / (2+6+2) = 0.60</a:t>
            </a:r>
          </a:p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B precision = 6 / (1+6+3) = 0.60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3977639"/>
            <a:ext cx="6217920" cy="13258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3243A"/>
                </a:solidFill>
                <a:latin typeface="맑은 고딕"/>
              </a:defRPr>
            </a:pPr>
            <a:r>
              <a:t>대각선: 정답</a:t>
            </a:r>
          </a:p>
          <a:p>
            <a:pPr>
              <a:spcAft>
                <a:spcPts val="1000"/>
              </a:spcAft>
              <a:defRPr sz="2100" b="0">
                <a:solidFill>
                  <a:srgbClr val="13243A"/>
                </a:solidFill>
                <a:latin typeface="맑은 고딕"/>
              </a:defRPr>
            </a:pPr>
            <a:r>
              <a:t>행 합: 실제 클래스 표본 수</a:t>
            </a:r>
          </a:p>
          <a:p>
            <a:pPr>
              <a:spcAft>
                <a:spcPts val="1000"/>
              </a:spcAft>
              <a:defRPr sz="2100" b="0">
                <a:solidFill>
                  <a:srgbClr val="13243A"/>
                </a:solidFill>
                <a:latin typeface="맑은 고딕"/>
              </a:defRPr>
            </a:pPr>
            <a:r>
              <a:t>열 합: 그 클래스로 예측한 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수업 외 복습 · 해당 개념 설명 시 함께 활용 가능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② 성능을 개선하는 실험  •  2026 가을학기  •  PyTorch / Colab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02  /  시각 보충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시각 보충 · 공정한 실험의 두 경로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65960"/>
            <a:ext cx="2560320" cy="914400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같은 분할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319272" y="2423160"/>
            <a:ext cx="173736" cy="0"/>
          </a:xfrm>
          <a:prstGeom prst="line">
            <a:avLst/>
          </a:prstGeom>
          <a:ln w="25400">
            <a:solidFill>
              <a:srgbClr val="14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520439" y="1965960"/>
            <a:ext cx="2560320" cy="914400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FFFFFF"/>
                </a:solidFill>
                <a:latin typeface="맑은 고딕"/>
              </a:defRPr>
            </a:pPr>
            <a:r>
              <a:t>고정 전처리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108192" y="2423160"/>
            <a:ext cx="173735" cy="0"/>
          </a:xfrm>
          <a:prstGeom prst="line">
            <a:avLst/>
          </a:prstGeom>
          <a:ln w="25400">
            <a:solidFill>
              <a:srgbClr val="14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309359" y="1965960"/>
            <a:ext cx="2560320" cy="914400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같은 모델·예산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897112" y="2423160"/>
            <a:ext cx="173736" cy="0"/>
          </a:xfrm>
          <a:prstGeom prst="line">
            <a:avLst/>
          </a:prstGeom>
          <a:ln w="25400">
            <a:solidFill>
              <a:srgbClr val="14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098280" y="1965960"/>
            <a:ext cx="2560320" cy="914400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같은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508760"/>
            <a:ext cx="3657600" cy="4114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A · 기준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86200"/>
            <a:ext cx="2560320" cy="914400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같은 분할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19272" y="4343400"/>
            <a:ext cx="173736" cy="0"/>
          </a:xfrm>
          <a:prstGeom prst="line">
            <a:avLst/>
          </a:prstGeom>
          <a:ln w="25400">
            <a:solidFill>
              <a:srgbClr val="14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20439" y="3886200"/>
            <a:ext cx="2560320" cy="914400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FFFFFF"/>
                </a:solidFill>
                <a:latin typeface="맑은 고딕"/>
              </a:defRPr>
            </a:pPr>
            <a:r>
              <a:t>train 증강만 추가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108192" y="4343400"/>
            <a:ext cx="173735" cy="0"/>
          </a:xfrm>
          <a:prstGeom prst="line">
            <a:avLst/>
          </a:prstGeom>
          <a:ln w="25400">
            <a:solidFill>
              <a:srgbClr val="14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309359" y="3886200"/>
            <a:ext cx="2560320" cy="914400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같은 모델·예산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897112" y="4343400"/>
            <a:ext cx="173736" cy="0"/>
          </a:xfrm>
          <a:prstGeom prst="line">
            <a:avLst/>
          </a:prstGeom>
          <a:ln w="25400">
            <a:solidFill>
              <a:srgbClr val="14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098280" y="3886200"/>
            <a:ext cx="2560320" cy="914400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같은 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429000"/>
            <a:ext cx="3657600" cy="4114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B · 변경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394960"/>
            <a:ext cx="10515600" cy="45720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기법의 이름보다 무엇을 고정했고 무엇을 바꿨는지 먼저 기록한다.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수업 외 복습 · 해당 개념 설명 시 함께 활용 가능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② 성능을 개선하는 실험  •  2026 가을학기  •  PyTorch / Colab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02  /  참고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읽을거리와 출처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PyTorch · 이미지 분류 튜토리얼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Conv2d · 공식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Deep Residual Learning · He et 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원문 링크는 발표자 노트와 주차별 README에 수록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생각하기 → 손으로 계산하기 → 코드로 검증하기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② 성능을 개선하는 실험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