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Python, 텐서, nn.Module, 역전파 기초를 전제로 한다. FashionMNIST 다운로드를 수업 전에 완료한다. 실습 기본값은 일부 학습 데이터와 짧은 학습이며 목표는 최고 정확도보다 올바른 파이프라인이다.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FashionMNIST는 28×28 회색조 의류 이미지 10종이다. 점수 자체는 확률이 아니며 logits이라고 부른다. 분류 정확도가 높아도 모든 종류의 이미지에 안전하게 일반화한다는 뜻은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Flatten이 공간 정보를 완전히 잃는다는 표현은 부정확하다. 고정된 순서라면 원래 위치를 복구할 수 있다. 핵심은 MLP 구조가 인접성과 이동을 활용하도록 강제하지 않는다는 점이다. 파라미터 비교는 첫 층만의 비교다.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세로 경계 필터를 예로 들어 밝고 어두운 부분의 차이를 계산한다. 초기 필터는 무작위이며 학습으로 바뀐다. 모든 필터를 사람이 이해할 수 있는 의미로 이름 붙일 수 있는 것은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출력 채널이 16이면 필터는 16개지만 각 필터의 깊이는 입력 채널 수와 같다. RGB 채널별 출력이 독립적으로 남는다는 오해를 바로잡는다. bias는 출력 채널마다 하나다.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불변성과 등변성을 구분한다. 이미지가 이동해도 출력 특징 맵이 동일한 것은 아니다. 최종 분류의 강건함은 풀링, 학습 데이터, 증강 등과 함께 만들어진다.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선형층만 쌓으면 전체가 하나의 선형 변환이다. MaxPool은 학습 파라미터가 없다. 풀링을 지나치게 반복하면 작은 물체의 특징이 사라질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실습에서는 공식 학습 세트를 고정 시드로 train/validation으로 나눈다. 공식 test를 매 epoch 보며 하이퍼파라미터를 조정하지 않는다. 결과를 비교할 때 분할도 같아야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직접 계산 후 노트북의 F.conv2d 출력과 비교한다. PyTorch Conv2d는 엄밀하게는 커널을 뒤집지 않는 cross-correlation을 수행한다. 딥러닝 문맥에서는 관례적으로 합성곱이라 부른다.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dilation은 이번 핵심 구현에서 1이다. 나눗셈 후 내림을 놓치지 않도록 한다. 출력 크기가 음수나 0이 되면 해당 구성이 유효하지 않다.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참가자에게 Linear의 in_features를 먼저 말하게 한다. B는 배치 크기이며 특징 차원에 곱하지 않는다. 입력 해상도가 달라지면 이 고정 Linear의 크기도 달라진다.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16→32, 3×3 Conv는 32×(16×9+1)=4,640개다. bias=False이면 마지막 +1을 빼야 한다. 출력 텐서 원소 수와 파라미터 수를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3×3 두 층이 5×5 한 층과 같은 함수는 아니다. r=1, jump=1에서 시작해 각 층의 수용 영역을 계산한다. stride를 지나면 jump_new=jump_old×stride다.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확률 예측 [0.1,0.7,0.2]에서 정답이 두 번째면 손실은 약 0.357이다. 정답 확률이 0.1이면 약 2.303으로 더 크다. 라벨 dtype은 torch.long이다.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노트북의 features와 classifier를 연결해 읽는다. 서로 다른 모듈 이름을 따라가기보다 각 단계의 shape를 주석으로 써 보게 한다. dropout은 2주차 비교를 위해 이번에는 넣지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step 전에 zero_grad를 하지 않으면 기울기가 누적된다. loss.item()은 기록용 Python 숫자이며 그 값으로 backward할 수 없다. inputs와 model은 같은 device에 있어야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이번 모델에서 두 모드 차이가 작더라도 습관을 미리 잡는다. 평가 함수는 eval과 no_grad를 모두 사용한다. validation 뒤 다음 epoch 시작에 train으로 복귀해야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배치 평균들의 단순 평균은 마지막 배치 크기가 다르면 가중치가 왜곡된다. 손실 로그는 optimizer 업데이트 전 예측에서 나온 값이라는 점도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loss가 전혀 줄지 않으면 정답과 데이터 대응, lr, optimizer 대상, train 상태부터 확인한다. 처음부터 모델을 크게 바꾸면 원인을 찾기 어렵다.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환경 셀은 수업 시작에 미리 실행한다. FashionMNIST 라벨과 그림이 맞는지 먼저 본다. 계산 정답은 -2다. shape 오류가 나면 reshape 대신 바로 전 층 출력부터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학습 중 나머지 참가자와 다음 loss 방향을 예측한다. 시간이 부족하면 epochs를 줄이고 전체 셀을 끝까지 실행한다. 두 모델 파라미터 수가 다르므로 구조 효과만 엄밀히 분리한 실험은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Shirt와 T-shirt/top 같은 혼동을 관찰할 수 있으나 실제 결과를 보고 말한다. 특징 맵의 밝기는 해당 채널의 반응이지 중요한 픽셀의 증명이 아니다. test 숫자를 다시 개선하기 위한 반복 튜닝은 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한 곡선 모양만으로 원인을 확정하지 않는다. train loss는 업데이트 중, validation loss는 epoch 종료 모델로 측정되어 조건이 다르다. 증강과 dropout도 비교에 영향을 준다.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행 합으로 정규화하면 각 클래스가 어디로 혼동되는지 비교하기 좋다. 표본 수가 0인 클래스의 recall은 정의되지 않는다. 노트북은 0 나눗셈을 막고 클래스 수를 함께 보여 준다.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한 번의 실험으로 CNN이 항상 우월하다고 결론내리지 않는다. 자율 과제에서는 커널과 채널을 바꾸되 나머지 조건을 고정한다. 계산량과 성능을 같이 비교하게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15×15, 224개, 넣지 않는다. 첫 문제에서 (32−3)/2+1=15.5를 내림한다. 둘째는 8×(3×9+1)이다. softmax는 확률 시각화 때만 따로 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과제는 기본, 실험, 도전으로 나뉜다. 수업 결과를 저장하고 다음 주에는 CIFAR10의 컬러 이미지로 확장한다. 진행자는 가장 많이 나온 오류 한 가지를 기록한다.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padding=1이라고 모든 픽셀이 같은 이웃 정보를 받는 것은 아니다. 이미지 중심과 가장자리의 유효 입력 개수 차이를 손으로 그려 본다.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1×1에도 ReLU를 붙이면 비선형 채널 변환이 된다. 공간 정보가 없다는 표현 대신 공간적으로 이웃을 직접 합치지 않는다고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MAC과 FLOP의 집계 관례가 다르므로 보고 기준을 적는다. 이 식은 bias와 활성화 등의 연산을 제외한 근사다.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GAP는 작은 분류 헤드를 만들 때 유용하다. 2주차 모델에서 AdaptiveAvgPool2d(1)을 사용해 Flatten 크기 오류를 줄인다.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시각적으로 그럴듯한 그림을 인과 설명으로 단정하지 않는다. 특정 부분을 가렸을 때 예측이 변하는지도 추가로 실험할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작은 표본 암기는 충분조건이 아니다. 잘 외워도 test 일반화는 별개의 문제다. 이 과정에서 얻은 숫자를 최종 성능으로 보고하지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리더용 해설 노트북의 코드는 참고 구현이다. 개선 실패도 설정과 결과, 가능한 이유를 기록하면 유효한 과제다.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숫자 4개씩을 직접 곱해 합한다. PyTorch의 cross-correlation 방식이며 필터를 뒤집지 않는다. 출력 한 칸의 계산과 전체 특징 맵을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도형 크기는 해상도 감소를 나타내는 개념도이며 실제 텐서 크기의 정밀한 비율은 아니다. 각 단계의 B,C,H,W를 말하게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학습 결과가 아닌 계산 설명용 숫자다. 이 예시에서 precision과 recall이 우연히 같지만 분모는 다르다. B행에서 B를 A로 2개, C로 2개 혼동했다.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두 경로의 차이를 한 칸으로 한정한 통제 실험 도식이다. seed를 맞추더라도 실제 난수 호출 흐름과 GPU 비결정성은 별도로 고려해야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PyTorch · 이미지 분류 튜토리얼</a:t>
            </a:r>
          </a:p>
          <a:p>
            <a:r>
              <a:t>https://docs.pytorch.org/tutorials/beginner/blitz/cifar10_tutorial.html</a:t>
            </a:r>
          </a:p>
          <a:p>
            <a:r>
              <a:t>Conv2d · 공식 API</a:t>
            </a:r>
          </a:p>
          <a:p>
            <a:r>
              <a:t>https://docs.pytorch.org/docs/stable/generated/torch.nn.Conv2d.html</a:t>
            </a:r>
          </a:p>
          <a:p>
            <a:r>
              <a:t>Deep Residual Learning · He et al.</a:t>
            </a:r>
          </a:p>
          <a:p>
            <a:r>
              <a:t>https://arxiv.org/abs/1512.03385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CNN ① 이미지에서 패턴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합성곱의 출력 크기와 파라미터 수를 계산한다.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FashionMNIST 분류기를 구현하고 학습을 진단한다.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특징 맵과 오분류를 근거로 모델의 한계를 설명한다.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IMAGE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→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이미지 분류를 함수로 쓰기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이미지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B×1×28×28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특징 추출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C개 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argmax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입력은 픽셀 텐서, 출력은 클래스별 점수다.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학습은 이미지와 정답의 대응을 반복해서 조정한다.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추론에서는 가장 큰 점수의 클래스를 선택한다.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MLP에서 CNN으로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Flatten은 정보를 삭제하지 않지만 2차원 이웃 구조를 직접 활용하지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전결합층은 위치마다 별도 가중치를 가진다.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CNN은 지역 연결과 가중치 공유를 구조에 넣는다.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784 → 128: 100,480개 / Conv 1→16, 3×3: 160개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필터 하나가 하는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지역 패치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3×3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곱하고 합하기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스칼라 반응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전체 특징 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작은 창과 필터를 원소별로 곱한 뒤 합한다.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같은 필터를 이미지 여러 위치에 적용한다.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출력 특징 맵은 특정 패턴에 대한 반응 지도다.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채널은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RGB는 입력 채널이 3개다.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출력 채널 수는 서로 다른 필터 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각 출력 채널은 모든 입력 채널의 반응을 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W: [C_out, C_in, K_h, K_w]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이동에 대한 올바른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패턴이 다른 위치에 나타나도 같은 필터가 반응한다.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stride 1 합성곱은 경계 등을 제외하면 이동 등변성을 갖는다.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풀링·경계·stride 때문에 완전한 이동 불변성은 보장되지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등변성: 입력 이동 → 특징 맵도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비선형성과 다운샘플링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Conv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ReLU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MaxPool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Conv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ReLU는 음수 반응을 0으로 바꾼다.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MaxPool은 작은 영역의 최댓값을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공간 해상도를 줄이면 계산량과 세부 정보가 함께 줄어든다.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데이터 분할부터 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train은 가중치 학습에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validation은 구조와 학습 설정 선택에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test는 선택을 끝낸 모델의 마지막 평가에만 사용한다.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train ≠ validation ≠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합성곱 한 칸 손계산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패치 [[1,2],[3,4]]와 필터 [[1,0],[0,-1]]을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원소별 곱은 1, 0, 0, -4다.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합은 -3이며 bias가 1이면 출력은 -2다.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y = Σ patch × weight + bias = 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출력 크기 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입력 H, 커널 K, 패딩 P, stride S를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dilation D까지 포함하면 유효 커널은 D(K−1)+1이다.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가로와 세로에 공식을 각각 적용한다.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H_out = floor((H + 2P − D(K−1) − 1) / S + 1)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형상 계산 연습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28×28, K=3, P=1, S=1이면 28×28이다.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2×2 MaxPool, S=2를 거치면 14×14다.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두 블록 후 32×7×7을 펼치면 1,568차원이다.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[B,1,28,28] → [B,16,14,14] → [B,32,7,7]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파라미터 수를 계산하기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Conv의 bias는 출력 채널마다 하나다.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공간 크기가 커져도 같은 필터를 공유한다.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풀링과 ReLU에는 학습 파라미터가 없다.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Conv params = C_out × (C_in × K_h × K_w + 1)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수용 영역을 넓히기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3×3 합성곱 두 층은 stride 1에서 5×5 영역을 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중간 ReLU가 추가적인 비선형성을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stride와 pooling이 있으면 누적 간격도 추적한다.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r_new = r_old + (K−1) × jump_old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분류 손실과 확률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CrossEntropyLoss는 logits와 정수 라벨을 받는다.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내부적으로 log-softmax와 정답 항의 음의 로그를 계산한다.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학습 직전 softmax를 따로 적용하지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 = −log softmax(logits)[y]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오늘의 SmallCNN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28×28×1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14×14×16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7×7×32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10 logits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첫 블록은 1→16 채널, 둘째 블록은 16→32다.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각 블록은 3×3 Conv, ReLU, 2×2 Pool로 구성한다.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분류기는 1,568→64→10으로 연결한다.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 루프의 다섯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이전 기울기를 비우고 forward를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손실을 계산하고 backward로 기울기를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optimizer.step으로 파라미터를 갱신한다.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optimizer.zero_grad()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logits = model(x)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loss = F.cross_entropy(logits, y)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loss.backward()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optimizer.step()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train과 eval을 구분하기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model.train()은 학습 모드로 설정한다.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model.eval()은 Dropout·BatchNorm의 동작을 바꾼다.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no_grad는 기울기 기록을 끄는 별도 기능이다.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eval() ≠ no_grad()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평균 손실을 제대로 집계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배치 평균에 배치 크기를 곱해 누적한다.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마지막 작은 배치까지 실제 표본 수로 나눈다.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정확도는 맞힌 개수 / 전체 개수다.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epoch_loss = Σ(batch_loss × batch_size) /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디버깅의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입력의 shape·dtype·범위를 먼저 출력한다.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한 배치 forward, loss, backward가 되는지 확인한다.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소량 데이터에 과적합할 수 있는지 검사한다.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입력 → 한 배치 → 소량 학습 → 전체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데이터와 연산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§1–3: 환경, 분할, 이미지 격자를 실행한다.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손계산 결과와 conv2d가 같은지 확인한다.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레이어별 shape와 파라미터 수를 출력한다.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50–57분 / 산출물: 이미지 격자 + shape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기준 모델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§4–5: MLP와 CNN을 같은 분할에서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각 epoch의 train/validation 손실을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validation 손실이 가장 낮은 가중치를 보관한다.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57–68분 / 산출물: 학습 곡선 + 비교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틀린 예측 들여다보기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§6–7: confusion matrix와 오분류를 시각화한다.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첫 Conv의 활성화를 원본과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모델 선택을 끝낸 뒤 test를 한 번 평가한다.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68–75분 / 산출물: 오분류 8장 + 해석 2문장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학습 곡선으로 원인 좁히기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train·validation 손실이 모두 높으면 학습 부족을 의심한다.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train만 계속 좋아지면 과적합 가능성을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validation 진동은 작은 표본·큰 lr 등도 원인이 될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관찰 → 가설 → 한 변수 변경 → 재실험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정확도 하나로 충분할까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클래스별 표본 수와 recall을 함께 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confusion matrix는 행이 정답, 열이 예측이다.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정답률이 같아도 실패하는 클래스가 다를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recall_c = TP_c / 실제 클래스 c의 개수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실험 기록을 남기는 최소 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데이터 분할·seed·모델·lr·epoch를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최고 validation과 마지막 epoch를 구분한다.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결과 차이가 작으면 여러 seed로 다시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한 줄 결론 + 결과 표 + 재현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출구 퀴즈 · 근거까지 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32×32, K=3, P=0, S=2의 출력 크기는?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Conv 3→8, 3×3, bias=True의 파라미터 수는?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CrossEntropyLoss 전에 softmax를 넣어야 할까?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1분 개인 답 → 1분 짝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다음 주로 가져갈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모델을 더 깊게 하면 언제 도움이 될까?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증강이 validation 정확도를 반드시 높일까?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예산으로 개선 여부를 어떻게 확인할까?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과제: 커널·채널 비교 + 오류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padding의 경계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zero padding은 바깥을 0으로 가정한다.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reflection padding은 주변을 반사한다.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경계의 가정은 출력 특징에 영향을 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같은 크기 유지 ≠ 경계 정보 보존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1×1 합성곱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공간 이웃을 섞지 않고 채널을 조합한다.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각 위치에 같은 선형 변환을 적용한다.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채널을 줄이면 뒤의 3×3 계산량을 줄일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[B,C_in,H,W] → [B,C_out,H,W]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계산량 추산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출력 한 원소는 C_in×K²개의 곱셈을 요구한다.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전체 출력 원소는 B×C_out×H_out×W_out이다.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파라미터 수가 작아도 큰 해상도에서는 계산량이 커진다.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MACs ≈ B H_out W_out C_out C_in K²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Global Average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채널별 공간 평균을 구해 하나의 값으로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입력 해상도 변화에 대응하기 쉬워진다.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정밀한 위치 정보는 평균 과정에서 줄어든다.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[B,C,H,W] → [B,C,1,1]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특징 맵 읽기의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한 채널의 활성화는 표현의 일부다.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밝은 위치가 예측의 유일한 원인은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모델·입력 변형에 따른 출력 변화도 함께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활성화 시각화는 진단 도구다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tiny overfit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32개 표본만 반복해서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규제를 잠시 줄여 학습 가능한지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거의 외우지 못하면 파이프라인 오류를 먼저 찾는다.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디버깅용 과적합 ≠ 일반화 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자율 과제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기본: 출력 크기와 파라미터 함수 구현.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실험: 채널 폭을 바꾸고 같은 예산으로 비교.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도전: 이동 후 예측 변화와 오분류 사례를 분석.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근거 없는 최고 정확도 경쟁은 피한다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패치와 필터의 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7432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패치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97480"/>
            <a:ext cx="4572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13243A"/>
                </a:solidFill>
                <a:latin typeface="맑은 고딕"/>
              </a:defRPr>
            </a:pPr>
            <a: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37360"/>
            <a:ext cx="27432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공유 필터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2316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246120"/>
            <a:ext cx="786384" cy="78638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4572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13243A"/>
                </a:solidFill>
                <a:latin typeface="맑은 고딕"/>
              </a:defRPr>
            </a:pPr>
            <a: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297680" cy="15544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1×1 + 2×0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+ 3×0 + 4×(−1) = −3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617720"/>
            <a:ext cx="103327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bias=1을 더하면 −2  /  같은 필터를 다음 패치로 이동한다.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해상도와 채널의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01952"/>
            <a:ext cx="1463040" cy="146304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86384" y="1956816"/>
            <a:ext cx="1463040" cy="146304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463040" cy="146304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1 × 28 ×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291840"/>
            <a:ext cx="457199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81528" y="2176272"/>
            <a:ext cx="1463040" cy="118872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026664" y="2231136"/>
            <a:ext cx="1463040" cy="118872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971800" y="2286000"/>
            <a:ext cx="1463040" cy="118872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78892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16 × 14 × 14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21808" y="2450591"/>
            <a:ext cx="146304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5266944" y="2505456"/>
            <a:ext cx="146304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5212080" y="2560320"/>
            <a:ext cx="146304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02920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32 × 7 × 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62088" y="2724912"/>
            <a:ext cx="1463040" cy="6400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507224" y="2779776"/>
            <a:ext cx="1463040" cy="64008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7452360" y="2834640"/>
            <a:ext cx="1463040" cy="64008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26948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3291840"/>
            <a:ext cx="457200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02368" y="2907791"/>
            <a:ext cx="1463040" cy="4572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9747504" y="2962656"/>
            <a:ext cx="1463040" cy="4572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9692640" y="3017520"/>
            <a:ext cx="1463040" cy="4572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509760" y="4297680"/>
            <a:ext cx="2194560" cy="7315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10 logits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B는 모든 단계에서 유지된다. 채널 수와 공간 해상도를 서로 바꾸어 읽지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혼동 행렬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65760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설명용 3-class confusion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256032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56032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3375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33756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3375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11480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114800"/>
            <a:ext cx="740664" cy="740664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예측 A      B     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731520" cy="2377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정답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B</a:t>
            </a:r>
          </a:p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86000"/>
            <a:ext cx="6217920" cy="13716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B recall = 6 / (2+6+2) = 0.60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B precision = 6 / (1+6+3) = 0.60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977639"/>
            <a:ext cx="6217920" cy="13258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대각선: 정답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행 합: 실제 클래스 표본 수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열 합: 그 클래스로 예측한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공정한 실험의 두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분할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9272" y="242316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20439" y="1965960"/>
            <a:ext cx="25603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고정 전처리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8192" y="2423160"/>
            <a:ext cx="173735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9359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모델·예산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97112" y="242316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98280" y="196596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 ·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분할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19272" y="434340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39" y="3886200"/>
            <a:ext cx="2560320" cy="914400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train 증강만 추가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8192" y="4343400"/>
            <a:ext cx="173735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모델·예산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97112" y="4343400"/>
            <a:ext cx="173736" cy="0"/>
          </a:xfrm>
          <a:prstGeom prst="line">
            <a:avLst/>
          </a:prstGeom>
          <a:ln w="25400">
            <a:solidFill>
              <a:srgbClr val="147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3886200"/>
            <a:ext cx="2560320" cy="9144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같은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6576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B ·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10515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기법의 이름보다 무엇을 고정했고 무엇을 바꿨는지 먼저 기록한다.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7D92"/>
                </a:solidFill>
                <a:latin typeface="맑은 고딕"/>
              </a:defRPr>
            </a:pPr>
            <a:r>
              <a:t>AIM  /  DEEP LEARNING STUDIO  /  WEEK 01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PyTorch · 이미지 분류 튜토리얼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Conv2d · 공식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Deep Residual Learning · He et 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CNN ① 이미지에서 패턴 찾기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47D92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